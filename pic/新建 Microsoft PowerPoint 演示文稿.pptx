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67" r:id="rId3"/>
    <p:sldId id="268" r:id="rId4"/>
    <p:sldId id="269" r:id="rId5"/>
    <p:sldId id="272" r:id="rId6"/>
    <p:sldId id="270" r:id="rId7"/>
    <p:sldId id="271" r:id="rId8"/>
    <p:sldId id="266" r:id="rId9"/>
  </p:sldIdLst>
  <p:sldSz cx="17279938" cy="9720263"/>
  <p:notesSz cx="6858000" cy="9144000"/>
  <p:defaultTextStyle>
    <a:defPPr>
      <a:defRPr lang="en-US"/>
    </a:defPPr>
    <a:lvl1pPr marL="0" algn="l" defTabSz="457054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054" algn="l" defTabSz="457054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108" algn="l" defTabSz="457054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163" algn="l" defTabSz="457054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217" algn="l" defTabSz="457054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271" algn="l" defTabSz="457054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323" algn="l" defTabSz="457054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377" algn="l" defTabSz="457054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432" algn="l" defTabSz="457054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62" userDrawn="1">
          <p15:clr>
            <a:srgbClr val="A4A3A4"/>
          </p15:clr>
        </p15:guide>
        <p15:guide id="2" pos="53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7A79"/>
    <a:srgbClr val="FBE3D6"/>
    <a:srgbClr val="99E6F0"/>
    <a:srgbClr val="B9B9B9"/>
    <a:srgbClr val="F5FFF5"/>
    <a:srgbClr val="FFFFFF"/>
    <a:srgbClr val="FCE5E8"/>
    <a:srgbClr val="EDF7FF"/>
    <a:srgbClr val="FCF1E0"/>
    <a:srgbClr val="E5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436" y="60"/>
      </p:cViewPr>
      <p:guideLst>
        <p:guide orient="horz" pos="3062"/>
        <p:guide pos="53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C696B-03D0-4194-940A-FAC528CBA8C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3A4587-76F8-429F-B89B-F662C15EA3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850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9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63" algn="l" defTabSz="9139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929" algn="l" defTabSz="9139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92" algn="l" defTabSz="9139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854" algn="l" defTabSz="9139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819" algn="l" defTabSz="9139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79" algn="l" defTabSz="9139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46" algn="l" defTabSz="9139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710" algn="l" defTabSz="91392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9994" y="1590793"/>
            <a:ext cx="12959954" cy="3384092"/>
          </a:xfrm>
        </p:spPr>
        <p:txBody>
          <a:bodyPr anchor="b"/>
          <a:lstStyle>
            <a:lvl1pPr algn="ctr">
              <a:defRPr sz="850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9994" y="5105390"/>
            <a:ext cx="12959954" cy="2346814"/>
          </a:xfrm>
        </p:spPr>
        <p:txBody>
          <a:bodyPr/>
          <a:lstStyle>
            <a:lvl1pPr marL="0" indent="0" algn="ctr">
              <a:buNone/>
              <a:defRPr sz="3402"/>
            </a:lvl1pPr>
            <a:lvl2pPr marL="647994" indent="0" algn="ctr">
              <a:buNone/>
              <a:defRPr sz="2835"/>
            </a:lvl2pPr>
            <a:lvl3pPr marL="1295985" indent="0" algn="ctr">
              <a:buNone/>
              <a:defRPr sz="2551"/>
            </a:lvl3pPr>
            <a:lvl4pPr marL="1943979" indent="0" algn="ctr">
              <a:buNone/>
              <a:defRPr sz="2268"/>
            </a:lvl4pPr>
            <a:lvl5pPr marL="2591970" indent="0" algn="ctr">
              <a:buNone/>
              <a:defRPr sz="2268"/>
            </a:lvl5pPr>
            <a:lvl6pPr marL="3239964" indent="0" algn="ctr">
              <a:buNone/>
              <a:defRPr sz="2268"/>
            </a:lvl6pPr>
            <a:lvl7pPr marL="3887958" indent="0" algn="ctr">
              <a:buNone/>
              <a:defRPr sz="2268"/>
            </a:lvl7pPr>
            <a:lvl8pPr marL="4535951" indent="0" algn="ctr">
              <a:buNone/>
              <a:defRPr sz="2268"/>
            </a:lvl8pPr>
            <a:lvl9pPr marL="5183943" indent="0" algn="ctr">
              <a:buNone/>
              <a:defRPr sz="226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04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191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98" y="2423325"/>
            <a:ext cx="14903947" cy="4043359"/>
          </a:xfrm>
        </p:spPr>
        <p:txBody>
          <a:bodyPr anchor="b"/>
          <a:lstStyle>
            <a:lvl1pPr>
              <a:defRPr sz="850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8998" y="6504933"/>
            <a:ext cx="14903947" cy="2126306"/>
          </a:xfrm>
        </p:spPr>
        <p:txBody>
          <a:bodyPr/>
          <a:lstStyle>
            <a:lvl1pPr marL="0" indent="0">
              <a:buNone/>
              <a:defRPr sz="3402">
                <a:solidFill>
                  <a:schemeClr val="tx1">
                    <a:tint val="82000"/>
                  </a:schemeClr>
                </a:solidFill>
              </a:defRPr>
            </a:lvl1pPr>
            <a:lvl2pPr marL="647994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2pPr>
            <a:lvl3pPr marL="1295985" indent="0">
              <a:buNone/>
              <a:defRPr sz="2551">
                <a:solidFill>
                  <a:schemeClr val="tx1">
                    <a:tint val="82000"/>
                  </a:schemeClr>
                </a:solidFill>
              </a:defRPr>
            </a:lvl3pPr>
            <a:lvl4pPr marL="1943979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4pPr>
            <a:lvl5pPr marL="2591970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5pPr>
            <a:lvl6pPr marL="3239964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6pPr>
            <a:lvl7pPr marL="3887958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7pPr>
            <a:lvl8pPr marL="4535951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8pPr>
            <a:lvl9pPr marL="5183943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053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7997" y="2587571"/>
            <a:ext cx="7343974" cy="61674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47968" y="2587571"/>
            <a:ext cx="7343974" cy="61674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95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50" y="517516"/>
            <a:ext cx="14903947" cy="18788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0252" y="2382821"/>
            <a:ext cx="7310223" cy="1167781"/>
          </a:xfrm>
        </p:spPr>
        <p:txBody>
          <a:bodyPr anchor="b"/>
          <a:lstStyle>
            <a:lvl1pPr marL="0" indent="0">
              <a:buNone/>
              <a:defRPr sz="3402" b="1"/>
            </a:lvl1pPr>
            <a:lvl2pPr marL="647994" indent="0">
              <a:buNone/>
              <a:defRPr sz="2835" b="1"/>
            </a:lvl2pPr>
            <a:lvl3pPr marL="1295985" indent="0">
              <a:buNone/>
              <a:defRPr sz="2551" b="1"/>
            </a:lvl3pPr>
            <a:lvl4pPr marL="1943979" indent="0">
              <a:buNone/>
              <a:defRPr sz="2268" b="1"/>
            </a:lvl4pPr>
            <a:lvl5pPr marL="2591970" indent="0">
              <a:buNone/>
              <a:defRPr sz="2268" b="1"/>
            </a:lvl5pPr>
            <a:lvl6pPr marL="3239964" indent="0">
              <a:buNone/>
              <a:defRPr sz="2268" b="1"/>
            </a:lvl6pPr>
            <a:lvl7pPr marL="3887958" indent="0">
              <a:buNone/>
              <a:defRPr sz="2268" b="1"/>
            </a:lvl7pPr>
            <a:lvl8pPr marL="4535951" indent="0">
              <a:buNone/>
              <a:defRPr sz="2268" b="1"/>
            </a:lvl8pPr>
            <a:lvl9pPr marL="5183943" indent="0">
              <a:buNone/>
              <a:defRPr sz="226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252" y="3550598"/>
            <a:ext cx="7310223" cy="52223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47972" y="2382821"/>
            <a:ext cx="7346224" cy="1167781"/>
          </a:xfrm>
        </p:spPr>
        <p:txBody>
          <a:bodyPr anchor="b"/>
          <a:lstStyle>
            <a:lvl1pPr marL="0" indent="0">
              <a:buNone/>
              <a:defRPr sz="3402" b="1"/>
            </a:lvl1pPr>
            <a:lvl2pPr marL="647994" indent="0">
              <a:buNone/>
              <a:defRPr sz="2835" b="1"/>
            </a:lvl2pPr>
            <a:lvl3pPr marL="1295985" indent="0">
              <a:buNone/>
              <a:defRPr sz="2551" b="1"/>
            </a:lvl3pPr>
            <a:lvl4pPr marL="1943979" indent="0">
              <a:buNone/>
              <a:defRPr sz="2268" b="1"/>
            </a:lvl4pPr>
            <a:lvl5pPr marL="2591970" indent="0">
              <a:buNone/>
              <a:defRPr sz="2268" b="1"/>
            </a:lvl5pPr>
            <a:lvl6pPr marL="3239964" indent="0">
              <a:buNone/>
              <a:defRPr sz="2268" b="1"/>
            </a:lvl6pPr>
            <a:lvl7pPr marL="3887958" indent="0">
              <a:buNone/>
              <a:defRPr sz="2268" b="1"/>
            </a:lvl7pPr>
            <a:lvl8pPr marL="4535951" indent="0">
              <a:buNone/>
              <a:defRPr sz="2268" b="1"/>
            </a:lvl8pPr>
            <a:lvl9pPr marL="5183943" indent="0">
              <a:buNone/>
              <a:defRPr sz="226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47972" y="3550598"/>
            <a:ext cx="7346224" cy="52223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86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997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218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8" y="648024"/>
            <a:ext cx="5573230" cy="2268061"/>
          </a:xfrm>
        </p:spPr>
        <p:txBody>
          <a:bodyPr anchor="b"/>
          <a:lstStyle>
            <a:lvl1pPr>
              <a:defRPr sz="453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6228" y="1399548"/>
            <a:ext cx="8747969" cy="6907687"/>
          </a:xfrm>
        </p:spPr>
        <p:txBody>
          <a:bodyPr/>
          <a:lstStyle>
            <a:lvl1pPr>
              <a:defRPr sz="4536"/>
            </a:lvl1pPr>
            <a:lvl2pPr>
              <a:defRPr sz="3969"/>
            </a:lvl2pPr>
            <a:lvl3pPr>
              <a:defRPr sz="3402"/>
            </a:lvl3pPr>
            <a:lvl4pPr>
              <a:defRPr sz="2835"/>
            </a:lvl4pPr>
            <a:lvl5pPr>
              <a:defRPr sz="2835"/>
            </a:lvl5pPr>
            <a:lvl6pPr>
              <a:defRPr sz="2835"/>
            </a:lvl6pPr>
            <a:lvl7pPr>
              <a:defRPr sz="2835"/>
            </a:lvl7pPr>
            <a:lvl8pPr>
              <a:defRPr sz="2835"/>
            </a:lvl8pPr>
            <a:lvl9pPr>
              <a:defRPr sz="28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8" y="2916084"/>
            <a:ext cx="5573230" cy="5402397"/>
          </a:xfrm>
        </p:spPr>
        <p:txBody>
          <a:bodyPr/>
          <a:lstStyle>
            <a:lvl1pPr marL="0" indent="0">
              <a:buNone/>
              <a:defRPr sz="2268"/>
            </a:lvl1pPr>
            <a:lvl2pPr marL="647994" indent="0">
              <a:buNone/>
              <a:defRPr sz="1984"/>
            </a:lvl2pPr>
            <a:lvl3pPr marL="1295985" indent="0">
              <a:buNone/>
              <a:defRPr sz="1701"/>
            </a:lvl3pPr>
            <a:lvl4pPr marL="1943979" indent="0">
              <a:buNone/>
              <a:defRPr sz="1415"/>
            </a:lvl4pPr>
            <a:lvl5pPr marL="2591970" indent="0">
              <a:buNone/>
              <a:defRPr sz="1415"/>
            </a:lvl5pPr>
            <a:lvl6pPr marL="3239964" indent="0">
              <a:buNone/>
              <a:defRPr sz="1415"/>
            </a:lvl6pPr>
            <a:lvl7pPr marL="3887958" indent="0">
              <a:buNone/>
              <a:defRPr sz="1415"/>
            </a:lvl7pPr>
            <a:lvl8pPr marL="4535951" indent="0">
              <a:buNone/>
              <a:defRPr sz="1415"/>
            </a:lvl8pPr>
            <a:lvl9pPr marL="5183943" indent="0">
              <a:buNone/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237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8" y="648024"/>
            <a:ext cx="5573230" cy="2268061"/>
          </a:xfrm>
        </p:spPr>
        <p:txBody>
          <a:bodyPr anchor="b"/>
          <a:lstStyle>
            <a:lvl1pPr>
              <a:defRPr sz="453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46228" y="1399548"/>
            <a:ext cx="8747969" cy="6907687"/>
          </a:xfrm>
        </p:spPr>
        <p:txBody>
          <a:bodyPr anchor="t"/>
          <a:lstStyle>
            <a:lvl1pPr marL="0" indent="0">
              <a:buNone/>
              <a:defRPr sz="4536"/>
            </a:lvl1pPr>
            <a:lvl2pPr marL="647994" indent="0">
              <a:buNone/>
              <a:defRPr sz="3969"/>
            </a:lvl2pPr>
            <a:lvl3pPr marL="1295985" indent="0">
              <a:buNone/>
              <a:defRPr sz="3402"/>
            </a:lvl3pPr>
            <a:lvl4pPr marL="1943979" indent="0">
              <a:buNone/>
              <a:defRPr sz="2835"/>
            </a:lvl4pPr>
            <a:lvl5pPr marL="2591970" indent="0">
              <a:buNone/>
              <a:defRPr sz="2835"/>
            </a:lvl5pPr>
            <a:lvl6pPr marL="3239964" indent="0">
              <a:buNone/>
              <a:defRPr sz="2835"/>
            </a:lvl6pPr>
            <a:lvl7pPr marL="3887958" indent="0">
              <a:buNone/>
              <a:defRPr sz="2835"/>
            </a:lvl7pPr>
            <a:lvl8pPr marL="4535951" indent="0">
              <a:buNone/>
              <a:defRPr sz="2835"/>
            </a:lvl8pPr>
            <a:lvl9pPr marL="5183943" indent="0">
              <a:buNone/>
              <a:defRPr sz="283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8" y="2916084"/>
            <a:ext cx="5573230" cy="5402397"/>
          </a:xfrm>
        </p:spPr>
        <p:txBody>
          <a:bodyPr/>
          <a:lstStyle>
            <a:lvl1pPr marL="0" indent="0">
              <a:buNone/>
              <a:defRPr sz="2268"/>
            </a:lvl1pPr>
            <a:lvl2pPr marL="647994" indent="0">
              <a:buNone/>
              <a:defRPr sz="1984"/>
            </a:lvl2pPr>
            <a:lvl3pPr marL="1295985" indent="0">
              <a:buNone/>
              <a:defRPr sz="1701"/>
            </a:lvl3pPr>
            <a:lvl4pPr marL="1943979" indent="0">
              <a:buNone/>
              <a:defRPr sz="1415"/>
            </a:lvl4pPr>
            <a:lvl5pPr marL="2591970" indent="0">
              <a:buNone/>
              <a:defRPr sz="1415"/>
            </a:lvl5pPr>
            <a:lvl6pPr marL="3239964" indent="0">
              <a:buNone/>
              <a:defRPr sz="1415"/>
            </a:lvl6pPr>
            <a:lvl7pPr marL="3887958" indent="0">
              <a:buNone/>
              <a:defRPr sz="1415"/>
            </a:lvl7pPr>
            <a:lvl8pPr marL="4535951" indent="0">
              <a:buNone/>
              <a:defRPr sz="1415"/>
            </a:lvl8pPr>
            <a:lvl9pPr marL="5183943" indent="0">
              <a:buNone/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017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06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65962" y="517517"/>
            <a:ext cx="3725987" cy="82374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8004" y="517517"/>
            <a:ext cx="10961961" cy="82374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207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88001" y="517516"/>
            <a:ext cx="14903947" cy="1878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8001" y="2587571"/>
            <a:ext cx="14903947" cy="6167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8000" y="9009245"/>
            <a:ext cx="3887988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7B908-5D6C-446C-B3D5-A1DADDF96F5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23983" y="9009245"/>
            <a:ext cx="5831979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03957" y="9009245"/>
            <a:ext cx="3887988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52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95985" rtl="0" eaLnBrk="1" latinLnBrk="0" hangingPunct="1">
        <a:lnSpc>
          <a:spcPct val="90000"/>
        </a:lnSpc>
        <a:spcBef>
          <a:spcPct val="0"/>
        </a:spcBef>
        <a:buNone/>
        <a:defRPr sz="623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3997" indent="-323997" algn="l" defTabSz="1295985" rtl="0" eaLnBrk="1" latinLnBrk="0" hangingPunct="1">
        <a:lnSpc>
          <a:spcPct val="90000"/>
        </a:lnSpc>
        <a:spcBef>
          <a:spcPts val="1415"/>
        </a:spcBef>
        <a:buFont typeface="Arial" panose="020B0604020202020204" pitchFamily="34" charset="0"/>
        <a:buChar char="•"/>
        <a:defRPr sz="3969" kern="1200">
          <a:solidFill>
            <a:schemeClr val="tx1"/>
          </a:solidFill>
          <a:latin typeface="+mn-lt"/>
          <a:ea typeface="+mn-ea"/>
          <a:cs typeface="+mn-cs"/>
        </a:defRPr>
      </a:lvl1pPr>
      <a:lvl2pPr marL="971990" indent="-323997" algn="l" defTabSz="129598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2pPr>
      <a:lvl3pPr marL="1619983" indent="-323997" algn="l" defTabSz="129598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267976" indent="-323997" algn="l" defTabSz="129598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4pPr>
      <a:lvl5pPr marL="2915969" indent="-323997" algn="l" defTabSz="129598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5pPr>
      <a:lvl6pPr marL="3563963" indent="-323997" algn="l" defTabSz="129598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6pPr>
      <a:lvl7pPr marL="4211954" indent="-323997" algn="l" defTabSz="129598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7pPr>
      <a:lvl8pPr marL="4859948" indent="-323997" algn="l" defTabSz="129598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8pPr>
      <a:lvl9pPr marL="5507940" indent="-323997" algn="l" defTabSz="129598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5985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1pPr>
      <a:lvl2pPr marL="647994" algn="l" defTabSz="1295985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2pPr>
      <a:lvl3pPr marL="1295985" algn="l" defTabSz="1295985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3pPr>
      <a:lvl4pPr marL="1943979" algn="l" defTabSz="1295985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4pPr>
      <a:lvl5pPr marL="2591970" algn="l" defTabSz="1295985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5pPr>
      <a:lvl6pPr marL="3239964" algn="l" defTabSz="1295985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6pPr>
      <a:lvl7pPr marL="3887958" algn="l" defTabSz="1295985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7pPr>
      <a:lvl8pPr marL="4535951" algn="l" defTabSz="1295985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8pPr>
      <a:lvl9pPr marL="5183943" algn="l" defTabSz="1295985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 130">
            <a:extLst>
              <a:ext uri="{FF2B5EF4-FFF2-40B4-BE49-F238E27FC236}">
                <a16:creationId xmlns:a16="http://schemas.microsoft.com/office/drawing/2014/main" id="{1A7267B7-280E-3C08-D21E-265F2D06D009}"/>
              </a:ext>
            </a:extLst>
          </p:cNvPr>
          <p:cNvSpPr/>
          <p:nvPr/>
        </p:nvSpPr>
        <p:spPr>
          <a:xfrm>
            <a:off x="8764307" y="7327193"/>
            <a:ext cx="7224996" cy="22449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42F122CB-E460-6B2F-E693-30DB8EE383AF}"/>
              </a:ext>
            </a:extLst>
          </p:cNvPr>
          <p:cNvSpPr/>
          <p:nvPr/>
        </p:nvSpPr>
        <p:spPr>
          <a:xfrm>
            <a:off x="8764307" y="4174018"/>
            <a:ext cx="7224996" cy="2999663"/>
          </a:xfrm>
          <a:prstGeom prst="rect">
            <a:avLst/>
          </a:prstGeom>
          <a:solidFill>
            <a:srgbClr val="E5FC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A6615E24-A6B4-DDBE-F6F2-13D6C1117C01}"/>
              </a:ext>
            </a:extLst>
          </p:cNvPr>
          <p:cNvSpPr/>
          <p:nvPr/>
        </p:nvSpPr>
        <p:spPr>
          <a:xfrm>
            <a:off x="1101756" y="4179359"/>
            <a:ext cx="7475688" cy="5389841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988D513-917C-FE94-4DE8-7CD85F8D4CD5}"/>
              </a:ext>
            </a:extLst>
          </p:cNvPr>
          <p:cNvSpPr/>
          <p:nvPr/>
        </p:nvSpPr>
        <p:spPr>
          <a:xfrm>
            <a:off x="8781292" y="49273"/>
            <a:ext cx="2902672" cy="3916337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4E728DB-CC73-8794-FC95-B2DAADE7E450}"/>
              </a:ext>
            </a:extLst>
          </p:cNvPr>
          <p:cNvSpPr/>
          <p:nvPr/>
        </p:nvSpPr>
        <p:spPr>
          <a:xfrm>
            <a:off x="11887796" y="46209"/>
            <a:ext cx="4101507" cy="3916337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F807708-E958-519E-355F-034C54D8F895}"/>
              </a:ext>
            </a:extLst>
          </p:cNvPr>
          <p:cNvSpPr/>
          <p:nvPr/>
        </p:nvSpPr>
        <p:spPr>
          <a:xfrm>
            <a:off x="1101758" y="58393"/>
            <a:ext cx="7475690" cy="3907217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pic>
        <p:nvPicPr>
          <p:cNvPr id="5" name="图形 4" descr="部分选中的剪贴板 纯色填充">
            <a:extLst>
              <a:ext uri="{FF2B5EF4-FFF2-40B4-BE49-F238E27FC236}">
                <a16:creationId xmlns:a16="http://schemas.microsoft.com/office/drawing/2014/main" id="{5A64C9D8-2CD1-1501-9283-981DF1CC53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56" y="131712"/>
            <a:ext cx="914400" cy="914400"/>
          </a:xfrm>
          <a:prstGeom prst="rect">
            <a:avLst/>
          </a:prstGeom>
        </p:spPr>
      </p:pic>
      <p:pic>
        <p:nvPicPr>
          <p:cNvPr id="11" name="图形 10" descr="沙漏 30% 纯色填充">
            <a:extLst>
              <a:ext uri="{FF2B5EF4-FFF2-40B4-BE49-F238E27FC236}">
                <a16:creationId xmlns:a16="http://schemas.microsoft.com/office/drawing/2014/main" id="{E6CF08C6-E8E4-AB7C-59FD-B8F402B008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796" y="55330"/>
            <a:ext cx="914400" cy="914400"/>
          </a:xfrm>
          <a:prstGeom prst="rect">
            <a:avLst/>
          </a:prstGeom>
        </p:spPr>
      </p:pic>
      <p:pic>
        <p:nvPicPr>
          <p:cNvPr id="15" name="图形 14" descr="房子 纯色填充">
            <a:extLst>
              <a:ext uri="{FF2B5EF4-FFF2-40B4-BE49-F238E27FC236}">
                <a16:creationId xmlns:a16="http://schemas.microsoft.com/office/drawing/2014/main" id="{BCB586D1-4F42-73C9-F85B-CBD6A5EDAD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6929" y="4278468"/>
            <a:ext cx="914400" cy="914400"/>
          </a:xfrm>
          <a:prstGeom prst="rect">
            <a:avLst/>
          </a:prstGeom>
        </p:spPr>
      </p:pic>
      <p:pic>
        <p:nvPicPr>
          <p:cNvPr id="17" name="图形 16" descr="复选标记 纯色填充">
            <a:extLst>
              <a:ext uri="{FF2B5EF4-FFF2-40B4-BE49-F238E27FC236}">
                <a16:creationId xmlns:a16="http://schemas.microsoft.com/office/drawing/2014/main" id="{C4F600CC-0A96-2135-9898-50B3C150D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53036" y="84472"/>
            <a:ext cx="914400" cy="91440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1A6B9E-2348-4190-3F59-222BE4D438E3}"/>
              </a:ext>
            </a:extLst>
          </p:cNvPr>
          <p:cNvSpPr/>
          <p:nvPr/>
        </p:nvSpPr>
        <p:spPr>
          <a:xfrm>
            <a:off x="12268280" y="1181194"/>
            <a:ext cx="3495717" cy="1129864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Texas in USA</a:t>
            </a:r>
          </a:p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High Income &amp; High assets</a:t>
            </a:r>
          </a:p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Mature Insurance Market</a:t>
            </a:r>
          </a:p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 hurricanes &amp; winter storms.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94C48A8-241E-BFAE-CDE7-89953B4B9733}"/>
              </a:ext>
            </a:extLst>
          </p:cNvPr>
          <p:cNvSpPr/>
          <p:nvPr/>
        </p:nvSpPr>
        <p:spPr>
          <a:xfrm>
            <a:off x="12267926" y="2485234"/>
            <a:ext cx="3495717" cy="1293350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Luzon in Philippine</a:t>
            </a:r>
          </a:p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 Developing Region</a:t>
            </a:r>
          </a:p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Immature Insurance Market</a:t>
            </a:r>
          </a:p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Typhoon &amp; Flooding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E4F335-2847-7DFB-8806-5314D7E1F389}"/>
              </a:ext>
            </a:extLst>
          </p:cNvPr>
          <p:cNvSpPr txBox="1"/>
          <p:nvPr/>
        </p:nvSpPr>
        <p:spPr>
          <a:xfrm>
            <a:off x="12683180" y="2"/>
            <a:ext cx="2461325" cy="1076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Preparation</a:t>
            </a:r>
          </a:p>
          <a:p>
            <a:r>
              <a:rPr lang="en-US" altLang="zh-CN" sz="1999" b="1" dirty="0">
                <a:latin typeface="+mn-ea"/>
              </a:rPr>
              <a:t>Data Collection</a:t>
            </a:r>
          </a:p>
          <a:p>
            <a:r>
              <a:rPr lang="en-US" altLang="zh-CN" sz="1999" b="1" dirty="0">
                <a:latin typeface="+mn-ea"/>
              </a:rPr>
              <a:t>&amp; Pre-processing</a:t>
            </a:r>
            <a:endParaRPr lang="zh-CN" altLang="en-US" sz="1999" b="1" dirty="0"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C3B7C36-3344-21B4-28C9-2BA3BA0C5DC3}"/>
              </a:ext>
            </a:extLst>
          </p:cNvPr>
          <p:cNvSpPr txBox="1"/>
          <p:nvPr/>
        </p:nvSpPr>
        <p:spPr>
          <a:xfrm>
            <a:off x="1918888" y="50302"/>
            <a:ext cx="4447401" cy="1076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TASK 1</a:t>
            </a:r>
          </a:p>
          <a:p>
            <a:r>
              <a:rPr lang="en-US" altLang="zh-CN" sz="1999" b="1" dirty="0">
                <a:latin typeface="+mn-ea"/>
              </a:rPr>
              <a:t>Model 1</a:t>
            </a:r>
          </a:p>
          <a:p>
            <a:r>
              <a:rPr lang="en-US" altLang="zh-CN" sz="1999" b="1" dirty="0">
                <a:latin typeface="+mn-ea"/>
              </a:rPr>
              <a:t>Insurance Underwriting Model </a:t>
            </a:r>
            <a:endParaRPr lang="zh-CN" altLang="en-US" sz="1999" b="1" dirty="0">
              <a:latin typeface="+mn-ea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E0B7E13-0FFF-812B-A3FD-74EF4851406C}"/>
              </a:ext>
            </a:extLst>
          </p:cNvPr>
          <p:cNvSpPr/>
          <p:nvPr/>
        </p:nvSpPr>
        <p:spPr>
          <a:xfrm>
            <a:off x="1236930" y="1237320"/>
            <a:ext cx="2221447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Quantify risks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74BC1BB-6634-D5DD-326A-4E7BD88A931B}"/>
              </a:ext>
            </a:extLst>
          </p:cNvPr>
          <p:cNvSpPr/>
          <p:nvPr/>
        </p:nvSpPr>
        <p:spPr>
          <a:xfrm>
            <a:off x="1236929" y="2209637"/>
            <a:ext cx="2221447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Accumulate losses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A8FD8EF-5C60-B87E-AE92-B5363323925D}"/>
              </a:ext>
            </a:extLst>
          </p:cNvPr>
          <p:cNvSpPr/>
          <p:nvPr/>
        </p:nvSpPr>
        <p:spPr>
          <a:xfrm>
            <a:off x="3770672" y="1232571"/>
            <a:ext cx="3474687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Minimum Viable Premium</a:t>
            </a:r>
          </a:p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For</a:t>
            </a:r>
            <a:r>
              <a:rPr lang="zh-CN" altLang="en-US" sz="2268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Insurers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978C3DB-7324-EAF0-1C09-70650301384F}"/>
              </a:ext>
            </a:extLst>
          </p:cNvPr>
          <p:cNvSpPr/>
          <p:nvPr/>
        </p:nvSpPr>
        <p:spPr>
          <a:xfrm>
            <a:off x="3770672" y="2202732"/>
            <a:ext cx="3474687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Maximum Affordable Premium</a:t>
            </a:r>
          </a:p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For</a:t>
            </a:r>
            <a:r>
              <a:rPr lang="zh-CN" altLang="en-US" sz="2268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Homeowners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2FEBE2D-95A0-5B86-1645-E49B7D1A98F6}"/>
              </a:ext>
            </a:extLst>
          </p:cNvPr>
          <p:cNvSpPr/>
          <p:nvPr/>
        </p:nvSpPr>
        <p:spPr>
          <a:xfrm>
            <a:off x="6736024" y="3186709"/>
            <a:ext cx="1764246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Decision Inequation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6CCE28FC-AA78-280B-7A93-35EF6D4A242B}"/>
              </a:ext>
            </a:extLst>
          </p:cNvPr>
          <p:cNvSpPr/>
          <p:nvPr/>
        </p:nvSpPr>
        <p:spPr>
          <a:xfrm>
            <a:off x="3770667" y="3186708"/>
            <a:ext cx="1764246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 Solvency Constraint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9F9A3DC-FA6A-DB5B-C96B-E4496B48D669}"/>
              </a:ext>
            </a:extLst>
          </p:cNvPr>
          <p:cNvSpPr txBox="1"/>
          <p:nvPr/>
        </p:nvSpPr>
        <p:spPr>
          <a:xfrm>
            <a:off x="9828903" y="10005"/>
            <a:ext cx="1393555" cy="1076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TASK 2</a:t>
            </a:r>
          </a:p>
          <a:p>
            <a:r>
              <a:rPr lang="en-US" altLang="zh-CN" sz="1999" b="1" dirty="0">
                <a:latin typeface="+mn-ea"/>
              </a:rPr>
              <a:t>Model 1</a:t>
            </a:r>
          </a:p>
          <a:p>
            <a:r>
              <a:rPr lang="en-US" altLang="zh-CN" sz="1999" b="1" dirty="0">
                <a:latin typeface="+mn-ea"/>
              </a:rPr>
              <a:t>Validation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C4E890D-CBF9-094C-3BDF-76EE7C97964B}"/>
              </a:ext>
            </a:extLst>
          </p:cNvPr>
          <p:cNvSpPr/>
          <p:nvPr/>
        </p:nvSpPr>
        <p:spPr>
          <a:xfrm>
            <a:off x="8922872" y="1237320"/>
            <a:ext cx="2480070" cy="554876"/>
          </a:xfrm>
          <a:prstGeom prst="roundRect">
            <a:avLst/>
          </a:prstGeom>
          <a:solidFill>
            <a:srgbClr val="FBE3D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Property Owners’ Behavior Factor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F676EC76-984A-D8A5-EC67-F0AF2C464E9D}"/>
              </a:ext>
            </a:extLst>
          </p:cNvPr>
          <p:cNvSpPr/>
          <p:nvPr/>
        </p:nvSpPr>
        <p:spPr>
          <a:xfrm>
            <a:off x="8922872" y="3186709"/>
            <a:ext cx="2480070" cy="554876"/>
          </a:xfrm>
          <a:prstGeom prst="roundRect">
            <a:avLst/>
          </a:prstGeom>
          <a:solidFill>
            <a:srgbClr val="FBE3D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Insurance Market Failure Point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11D51B7-A5A0-51C8-A29F-D1C3DA6D9BED}"/>
              </a:ext>
            </a:extLst>
          </p:cNvPr>
          <p:cNvSpPr txBox="1"/>
          <p:nvPr/>
        </p:nvSpPr>
        <p:spPr>
          <a:xfrm>
            <a:off x="2050559" y="4197059"/>
            <a:ext cx="5013945" cy="1076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TASK 3</a:t>
            </a:r>
          </a:p>
          <a:p>
            <a:r>
              <a:rPr lang="en-US" altLang="zh-CN" sz="1999" b="1" dirty="0">
                <a:latin typeface="+mn-ea"/>
              </a:rPr>
              <a:t>Model 2</a:t>
            </a:r>
          </a:p>
          <a:p>
            <a:r>
              <a:rPr lang="en-US" altLang="zh-CN" sz="1999" b="1" dirty="0">
                <a:latin typeface="+mn-ea"/>
              </a:rPr>
              <a:t>Dynamic Resilience Life-Cycle Cost Model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796043D-978F-86D5-842C-157084328DD4}"/>
              </a:ext>
            </a:extLst>
          </p:cNvPr>
          <p:cNvSpPr/>
          <p:nvPr/>
        </p:nvSpPr>
        <p:spPr>
          <a:xfrm>
            <a:off x="5279021" y="7099378"/>
            <a:ext cx="3151667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Minimize Total Cost of</a:t>
            </a:r>
          </a:p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Ownership (TCO)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0DBE3DB-C2C6-E65A-89F2-9A40A213F48E}"/>
              </a:ext>
            </a:extLst>
          </p:cNvPr>
          <p:cNvSpPr/>
          <p:nvPr/>
        </p:nvSpPr>
        <p:spPr>
          <a:xfrm>
            <a:off x="1248884" y="5422680"/>
            <a:ext cx="3151669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Initial Construction Cost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AC910E9-4601-C3A6-0808-D33EA2810DFA}"/>
              </a:ext>
            </a:extLst>
          </p:cNvPr>
          <p:cNvSpPr/>
          <p:nvPr/>
        </p:nvSpPr>
        <p:spPr>
          <a:xfrm>
            <a:off x="1248884" y="7099378"/>
            <a:ext cx="3151669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Minimum Viable Premium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E622764-F1A7-50BC-DC8D-3CA96F131E4B}"/>
              </a:ext>
            </a:extLst>
          </p:cNvPr>
          <p:cNvSpPr/>
          <p:nvPr/>
        </p:nvSpPr>
        <p:spPr>
          <a:xfrm>
            <a:off x="1248884" y="8776077"/>
            <a:ext cx="3151669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Expected Residual Loss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B905329-746F-F063-B978-99579833A903}"/>
              </a:ext>
            </a:extLst>
          </p:cNvPr>
          <p:cNvSpPr txBox="1"/>
          <p:nvPr/>
        </p:nvSpPr>
        <p:spPr>
          <a:xfrm>
            <a:off x="9609288" y="4197065"/>
            <a:ext cx="4051682" cy="1076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TASK 4</a:t>
            </a:r>
          </a:p>
          <a:p>
            <a:r>
              <a:rPr lang="en-US" altLang="zh-CN" sz="1999" b="1" dirty="0">
                <a:latin typeface="+mn-ea"/>
              </a:rPr>
              <a:t>Model 3</a:t>
            </a:r>
          </a:p>
          <a:p>
            <a:r>
              <a:rPr lang="en-US" altLang="zh-CN" sz="1999" b="1" dirty="0">
                <a:latin typeface="+mn-ea"/>
              </a:rPr>
              <a:t>Cultural Relics Protection Model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65C5F1E-2C4D-C3E7-B18F-122414471D70}"/>
              </a:ext>
            </a:extLst>
          </p:cNvPr>
          <p:cNvSpPr/>
          <p:nvPr/>
        </p:nvSpPr>
        <p:spPr>
          <a:xfrm>
            <a:off x="8885471" y="5857640"/>
            <a:ext cx="2003362" cy="554876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Protection Index</a:t>
            </a:r>
          </a:p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(PI)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B78F68FE-906D-5841-5CAB-4BCD2EFD2E0F}"/>
              </a:ext>
            </a:extLst>
          </p:cNvPr>
          <p:cNvSpPr/>
          <p:nvPr/>
        </p:nvSpPr>
        <p:spPr>
          <a:xfrm>
            <a:off x="13993857" y="5372127"/>
            <a:ext cx="1755581" cy="554876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 Intangible Cultural Value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2BF0BB07-C606-0C0C-DB24-8832E261A941}"/>
              </a:ext>
            </a:extLst>
          </p:cNvPr>
          <p:cNvSpPr/>
          <p:nvPr/>
        </p:nvSpPr>
        <p:spPr>
          <a:xfrm>
            <a:off x="11458244" y="5368053"/>
            <a:ext cx="1934698" cy="554876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Economic value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CD6BA1F7-D884-5CC3-5CB6-662B4C92E9C8}"/>
              </a:ext>
            </a:extLst>
          </p:cNvPr>
          <p:cNvSpPr/>
          <p:nvPr/>
        </p:nvSpPr>
        <p:spPr>
          <a:xfrm>
            <a:off x="11462700" y="6277897"/>
            <a:ext cx="1930242" cy="554876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Protective Measures Cost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B9288EE3-ED45-D970-FE85-854EFA612B61}"/>
              </a:ext>
            </a:extLst>
          </p:cNvPr>
          <p:cNvSpPr/>
          <p:nvPr/>
        </p:nvSpPr>
        <p:spPr>
          <a:xfrm>
            <a:off x="13993857" y="6243311"/>
            <a:ext cx="1755581" cy="554876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Expected Residual Loss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2FA9C6A8-CD5E-D71A-E370-2FB4BD3A838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2347656" y="1792197"/>
            <a:ext cx="2" cy="4174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963957E3-B705-D25A-1F42-5C4458D20E66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 flipV="1">
            <a:off x="3458378" y="1510007"/>
            <a:ext cx="312288" cy="977068"/>
          </a:xfrm>
          <a:prstGeom prst="bentConnector3">
            <a:avLst>
              <a:gd name="adj1" fmla="val 3983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2CBD44A6-4E71-B949-876C-30F0F6D80EF6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>
            <a:off x="8500278" y="3464146"/>
            <a:ext cx="42260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BBE5AFDF-176B-437E-70D9-B845F5A175E3}"/>
              </a:ext>
            </a:extLst>
          </p:cNvPr>
          <p:cNvCxnSpPr>
            <a:cxnSpLocks/>
            <a:stCxn id="19" idx="1"/>
            <a:endCxn id="35" idx="3"/>
          </p:cNvCxnSpPr>
          <p:nvPr/>
        </p:nvCxnSpPr>
        <p:spPr>
          <a:xfrm rot="10800000" flipV="1">
            <a:off x="11402943" y="1746132"/>
            <a:ext cx="865329" cy="1718019"/>
          </a:xfrm>
          <a:prstGeom prst="bentConnector3">
            <a:avLst>
              <a:gd name="adj1" fmla="val 2945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50043013-E659-3F0A-30BA-31E32483CCD3}"/>
              </a:ext>
            </a:extLst>
          </p:cNvPr>
          <p:cNvCxnSpPr>
            <a:cxnSpLocks/>
            <a:stCxn id="20" idx="1"/>
            <a:endCxn id="35" idx="3"/>
          </p:cNvCxnSpPr>
          <p:nvPr/>
        </p:nvCxnSpPr>
        <p:spPr>
          <a:xfrm rot="10800000" flipV="1">
            <a:off x="11402949" y="3131905"/>
            <a:ext cx="864974" cy="332245"/>
          </a:xfrm>
          <a:prstGeom prst="bentConnector3">
            <a:avLst>
              <a:gd name="adj1" fmla="val 2907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18A6F103-3CFF-4D4A-3CD4-97A72D882ACD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10162905" y="1792206"/>
            <a:ext cx="0" cy="13945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6ACCED84-3273-8733-24D7-B29420454B8B}"/>
              </a:ext>
            </a:extLst>
          </p:cNvPr>
          <p:cNvSpPr/>
          <p:nvPr/>
        </p:nvSpPr>
        <p:spPr>
          <a:xfrm>
            <a:off x="5293024" y="8763060"/>
            <a:ext cx="3137660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Optimal Resilience Level</a:t>
            </a:r>
          </a:p>
        </p:txBody>
      </p: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379ACB34-4DF8-1F44-1859-5E434DCC65D0}"/>
              </a:ext>
            </a:extLst>
          </p:cNvPr>
          <p:cNvCxnSpPr>
            <a:cxnSpLocks/>
            <a:stCxn id="38" idx="3"/>
            <a:endCxn id="37" idx="1"/>
          </p:cNvCxnSpPr>
          <p:nvPr/>
        </p:nvCxnSpPr>
        <p:spPr>
          <a:xfrm>
            <a:off x="4400560" y="5700132"/>
            <a:ext cx="878458" cy="167669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连接符: 肘形 106">
            <a:extLst>
              <a:ext uri="{FF2B5EF4-FFF2-40B4-BE49-F238E27FC236}">
                <a16:creationId xmlns:a16="http://schemas.microsoft.com/office/drawing/2014/main" id="{96DB6E28-4AD4-8D70-598A-E2BB010D6F51}"/>
              </a:ext>
            </a:extLst>
          </p:cNvPr>
          <p:cNvCxnSpPr>
            <a:cxnSpLocks/>
            <a:stCxn id="40" idx="3"/>
            <a:endCxn id="37" idx="1"/>
          </p:cNvCxnSpPr>
          <p:nvPr/>
        </p:nvCxnSpPr>
        <p:spPr>
          <a:xfrm flipV="1">
            <a:off x="4400560" y="7376830"/>
            <a:ext cx="878458" cy="167669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0171ADE1-8F57-0F06-34E3-A3E6FEFF872D}"/>
              </a:ext>
            </a:extLst>
          </p:cNvPr>
          <p:cNvCxnSpPr>
            <a:cxnSpLocks/>
            <a:stCxn id="39" idx="3"/>
            <a:endCxn id="37" idx="1"/>
          </p:cNvCxnSpPr>
          <p:nvPr/>
        </p:nvCxnSpPr>
        <p:spPr>
          <a:xfrm>
            <a:off x="4400560" y="7376816"/>
            <a:ext cx="87845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6F187F31-4363-DF74-E5B0-E0F182208591}"/>
              </a:ext>
            </a:extLst>
          </p:cNvPr>
          <p:cNvCxnSpPr>
            <a:cxnSpLocks/>
            <a:stCxn id="37" idx="2"/>
            <a:endCxn id="103" idx="0"/>
          </p:cNvCxnSpPr>
          <p:nvPr/>
        </p:nvCxnSpPr>
        <p:spPr>
          <a:xfrm>
            <a:off x="6854840" y="7654256"/>
            <a:ext cx="7004" cy="11088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2" name="图形 121" descr="希腊柱子 纯色填充">
            <a:extLst>
              <a:ext uri="{FF2B5EF4-FFF2-40B4-BE49-F238E27FC236}">
                <a16:creationId xmlns:a16="http://schemas.microsoft.com/office/drawing/2014/main" id="{9261AB7E-E272-11A1-21DA-B488BD1E18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1286" y="4249884"/>
            <a:ext cx="914400" cy="914400"/>
          </a:xfrm>
          <a:prstGeom prst="rect">
            <a:avLst/>
          </a:prstGeom>
        </p:spPr>
      </p:pic>
      <p:sp>
        <p:nvSpPr>
          <p:cNvPr id="124" name="等号 123">
            <a:extLst>
              <a:ext uri="{FF2B5EF4-FFF2-40B4-BE49-F238E27FC236}">
                <a16:creationId xmlns:a16="http://schemas.microsoft.com/office/drawing/2014/main" id="{F96546DB-398F-FFDD-074A-3D9BF9C0FCF6}"/>
              </a:ext>
            </a:extLst>
          </p:cNvPr>
          <p:cNvSpPr/>
          <p:nvPr/>
        </p:nvSpPr>
        <p:spPr>
          <a:xfrm>
            <a:off x="10893409" y="5886375"/>
            <a:ext cx="382440" cy="423506"/>
          </a:xfrm>
          <a:prstGeom prst="mathEqual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68">
              <a:solidFill>
                <a:schemeClr val="tx1"/>
              </a:solidFill>
            </a:endParaRPr>
          </a:p>
        </p:txBody>
      </p:sp>
      <p:sp>
        <p:nvSpPr>
          <p:cNvPr id="125" name="减号 124">
            <a:extLst>
              <a:ext uri="{FF2B5EF4-FFF2-40B4-BE49-F238E27FC236}">
                <a16:creationId xmlns:a16="http://schemas.microsoft.com/office/drawing/2014/main" id="{DDFD536F-228D-1288-67CC-16DA776001C4}"/>
              </a:ext>
            </a:extLst>
          </p:cNvPr>
          <p:cNvSpPr/>
          <p:nvPr/>
        </p:nvSpPr>
        <p:spPr>
          <a:xfrm>
            <a:off x="10558113" y="5967646"/>
            <a:ext cx="6098629" cy="260105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68"/>
          </a:p>
        </p:txBody>
      </p:sp>
      <p:sp>
        <p:nvSpPr>
          <p:cNvPr id="126" name="加号 125">
            <a:extLst>
              <a:ext uri="{FF2B5EF4-FFF2-40B4-BE49-F238E27FC236}">
                <a16:creationId xmlns:a16="http://schemas.microsoft.com/office/drawing/2014/main" id="{B1C47AD5-1CEE-2B5B-2AF9-EC6E176F7E1B}"/>
              </a:ext>
            </a:extLst>
          </p:cNvPr>
          <p:cNvSpPr/>
          <p:nvPr/>
        </p:nvSpPr>
        <p:spPr>
          <a:xfrm>
            <a:off x="13476916" y="5427795"/>
            <a:ext cx="423506" cy="423506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68"/>
          </a:p>
        </p:txBody>
      </p:sp>
      <p:sp>
        <p:nvSpPr>
          <p:cNvPr id="127" name="加号 126">
            <a:extLst>
              <a:ext uri="{FF2B5EF4-FFF2-40B4-BE49-F238E27FC236}">
                <a16:creationId xmlns:a16="http://schemas.microsoft.com/office/drawing/2014/main" id="{FEF3DABA-A034-B7CF-D81A-F719A512788C}"/>
              </a:ext>
            </a:extLst>
          </p:cNvPr>
          <p:cNvSpPr/>
          <p:nvPr/>
        </p:nvSpPr>
        <p:spPr>
          <a:xfrm>
            <a:off x="13479034" y="6308997"/>
            <a:ext cx="423506" cy="423506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68"/>
          </a:p>
        </p:txBody>
      </p:sp>
      <p:pic>
        <p:nvPicPr>
          <p:cNvPr id="129" name="图形 128" descr="文档 纯色填充">
            <a:extLst>
              <a:ext uri="{FF2B5EF4-FFF2-40B4-BE49-F238E27FC236}">
                <a16:creationId xmlns:a16="http://schemas.microsoft.com/office/drawing/2014/main" id="{DBC5581B-EC77-AFE4-689A-8BDDF0AFB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90483" y="7382079"/>
            <a:ext cx="914400" cy="914400"/>
          </a:xfrm>
          <a:prstGeom prst="rect">
            <a:avLst/>
          </a:prstGeom>
        </p:spPr>
      </p:pic>
      <p:sp>
        <p:nvSpPr>
          <p:cNvPr id="132" name="文本框 131">
            <a:extLst>
              <a:ext uri="{FF2B5EF4-FFF2-40B4-BE49-F238E27FC236}">
                <a16:creationId xmlns:a16="http://schemas.microsoft.com/office/drawing/2014/main" id="{89ED2FCF-C840-0133-62F0-D3D9C0B6398E}"/>
              </a:ext>
            </a:extLst>
          </p:cNvPr>
          <p:cNvSpPr txBox="1"/>
          <p:nvPr/>
        </p:nvSpPr>
        <p:spPr>
          <a:xfrm>
            <a:off x="9609288" y="7423792"/>
            <a:ext cx="40516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TASK 5</a:t>
            </a:r>
          </a:p>
          <a:p>
            <a:r>
              <a:rPr lang="en-US" altLang="zh-CN" sz="2400" b="1" dirty="0">
                <a:latin typeface="+mn-ea"/>
              </a:rPr>
              <a:t>Letter Writing</a:t>
            </a:r>
          </a:p>
        </p:txBody>
      </p:sp>
      <p:cxnSp>
        <p:nvCxnSpPr>
          <p:cNvPr id="158" name="连接符: 肘形 157">
            <a:extLst>
              <a:ext uri="{FF2B5EF4-FFF2-40B4-BE49-F238E27FC236}">
                <a16:creationId xmlns:a16="http://schemas.microsoft.com/office/drawing/2014/main" id="{F2727C0E-9B38-B087-902E-78BB2279E6A6}"/>
              </a:ext>
            </a:extLst>
          </p:cNvPr>
          <p:cNvCxnSpPr>
            <a:cxnSpLocks/>
            <a:stCxn id="25" idx="3"/>
            <a:endCxn id="29" idx="0"/>
          </p:cNvCxnSpPr>
          <p:nvPr/>
        </p:nvCxnSpPr>
        <p:spPr>
          <a:xfrm>
            <a:off x="7245351" y="1510018"/>
            <a:ext cx="372794" cy="167669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连接符: 肘形 160">
            <a:extLst>
              <a:ext uri="{FF2B5EF4-FFF2-40B4-BE49-F238E27FC236}">
                <a16:creationId xmlns:a16="http://schemas.microsoft.com/office/drawing/2014/main" id="{72C89AA3-9F95-C80A-4B13-0AAD11A3F141}"/>
              </a:ext>
            </a:extLst>
          </p:cNvPr>
          <p:cNvCxnSpPr>
            <a:cxnSpLocks/>
            <a:stCxn id="28" idx="3"/>
            <a:endCxn id="29" idx="0"/>
          </p:cNvCxnSpPr>
          <p:nvPr/>
        </p:nvCxnSpPr>
        <p:spPr>
          <a:xfrm>
            <a:off x="7245351" y="2480178"/>
            <a:ext cx="372794" cy="70653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033CB97F-5CB4-6E02-582D-BA2F9CA25F79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5534917" y="3464146"/>
            <a:ext cx="120111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矩形: 圆角 177">
            <a:extLst>
              <a:ext uri="{FF2B5EF4-FFF2-40B4-BE49-F238E27FC236}">
                <a16:creationId xmlns:a16="http://schemas.microsoft.com/office/drawing/2014/main" id="{C139F168-3FDD-2858-B9E1-EE0090F8856E}"/>
              </a:ext>
            </a:extLst>
          </p:cNvPr>
          <p:cNvSpPr/>
          <p:nvPr/>
        </p:nvSpPr>
        <p:spPr>
          <a:xfrm>
            <a:off x="8885847" y="8351371"/>
            <a:ext cx="5498577" cy="1121550"/>
          </a:xfrm>
          <a:prstGeom prst="roundRect">
            <a:avLst/>
          </a:prstGeom>
          <a:solidFill>
            <a:srgbClr val="E5FC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To Mayor and City Council of San Antonio,</a:t>
            </a:r>
          </a:p>
          <a:p>
            <a:r>
              <a:rPr lang="en-US" altLang="zh-CN" sz="2268" b="1" dirty="0">
                <a:solidFill>
                  <a:schemeClr val="tx1"/>
                </a:solidFill>
                <a:latin typeface="+mn-ea"/>
              </a:rPr>
              <a:t>Climate Resilience Bonds should be applied to protect the Saint Antonio Missions Historical Park  </a:t>
            </a:r>
          </a:p>
        </p:txBody>
      </p:sp>
      <p:cxnSp>
        <p:nvCxnSpPr>
          <p:cNvPr id="181" name="连接符: 肘形 180">
            <a:extLst>
              <a:ext uri="{FF2B5EF4-FFF2-40B4-BE49-F238E27FC236}">
                <a16:creationId xmlns:a16="http://schemas.microsoft.com/office/drawing/2014/main" id="{BC43584A-FA28-1BCB-6E9C-946B335200D6}"/>
              </a:ext>
            </a:extLst>
          </p:cNvPr>
          <p:cNvCxnSpPr>
            <a:cxnSpLocks/>
            <a:stCxn id="42" idx="1"/>
            <a:endCxn id="178" idx="1"/>
          </p:cNvCxnSpPr>
          <p:nvPr/>
        </p:nvCxnSpPr>
        <p:spPr>
          <a:xfrm rot="10800000" flipH="1" flipV="1">
            <a:off x="8885471" y="6135086"/>
            <a:ext cx="376" cy="2777058"/>
          </a:xfrm>
          <a:prstGeom prst="bentConnector3">
            <a:avLst>
              <a:gd name="adj1" fmla="val -6079787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054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45EDA-5B66-8803-38AB-2E6D7FAA6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矩形 122">
            <a:extLst>
              <a:ext uri="{FF2B5EF4-FFF2-40B4-BE49-F238E27FC236}">
                <a16:creationId xmlns:a16="http://schemas.microsoft.com/office/drawing/2014/main" id="{C25D2EED-8F37-1ADB-9709-2AE41F261178}"/>
              </a:ext>
            </a:extLst>
          </p:cNvPr>
          <p:cNvSpPr/>
          <p:nvPr/>
        </p:nvSpPr>
        <p:spPr>
          <a:xfrm>
            <a:off x="5027471" y="4130809"/>
            <a:ext cx="7691579" cy="3466742"/>
          </a:xfrm>
          <a:prstGeom prst="rect">
            <a:avLst/>
          </a:prstGeom>
          <a:solidFill>
            <a:srgbClr val="E5FC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ED0A7D04-9D49-D4BA-97D0-509DEB8BC2C5}"/>
              </a:ext>
            </a:extLst>
          </p:cNvPr>
          <p:cNvSpPr/>
          <p:nvPr/>
        </p:nvSpPr>
        <p:spPr>
          <a:xfrm>
            <a:off x="119268" y="4136085"/>
            <a:ext cx="4844591" cy="3451609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BAEE0EE-9329-9CAC-7401-74D6E343C19C}"/>
              </a:ext>
            </a:extLst>
          </p:cNvPr>
          <p:cNvSpPr/>
          <p:nvPr/>
        </p:nvSpPr>
        <p:spPr>
          <a:xfrm>
            <a:off x="4662389" y="91469"/>
            <a:ext cx="2902672" cy="3916337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449BBA3-1B4B-3490-A8E4-CF00AD1B2748}"/>
              </a:ext>
            </a:extLst>
          </p:cNvPr>
          <p:cNvSpPr/>
          <p:nvPr/>
        </p:nvSpPr>
        <p:spPr>
          <a:xfrm>
            <a:off x="7666082" y="72788"/>
            <a:ext cx="5052968" cy="3935018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AF1D593-316C-2E9C-431C-6A480C31031E}"/>
              </a:ext>
            </a:extLst>
          </p:cNvPr>
          <p:cNvSpPr/>
          <p:nvPr/>
        </p:nvSpPr>
        <p:spPr>
          <a:xfrm>
            <a:off x="119267" y="111231"/>
            <a:ext cx="4473227" cy="3907217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pic>
        <p:nvPicPr>
          <p:cNvPr id="5" name="图形 4" descr="部分选中的剪贴板 纯色填充">
            <a:extLst>
              <a:ext uri="{FF2B5EF4-FFF2-40B4-BE49-F238E27FC236}">
                <a16:creationId xmlns:a16="http://schemas.microsoft.com/office/drawing/2014/main" id="{BBF78618-127F-871D-8AF9-699BC0A475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8994" y="133612"/>
            <a:ext cx="914400" cy="914400"/>
          </a:xfrm>
          <a:prstGeom prst="rect">
            <a:avLst/>
          </a:prstGeom>
        </p:spPr>
      </p:pic>
      <p:pic>
        <p:nvPicPr>
          <p:cNvPr id="11" name="图形 10" descr="沙漏 30% 纯色填充">
            <a:extLst>
              <a:ext uri="{FF2B5EF4-FFF2-40B4-BE49-F238E27FC236}">
                <a16:creationId xmlns:a16="http://schemas.microsoft.com/office/drawing/2014/main" id="{C90E80A5-DFC4-FAB3-3255-A37DABAB9D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4956" y="86959"/>
            <a:ext cx="914400" cy="914400"/>
          </a:xfrm>
          <a:prstGeom prst="rect">
            <a:avLst/>
          </a:prstGeom>
        </p:spPr>
      </p:pic>
      <p:pic>
        <p:nvPicPr>
          <p:cNvPr id="17" name="图形 16" descr="复选标记 纯色填充">
            <a:extLst>
              <a:ext uri="{FF2B5EF4-FFF2-40B4-BE49-F238E27FC236}">
                <a16:creationId xmlns:a16="http://schemas.microsoft.com/office/drawing/2014/main" id="{F6DEADC9-46B7-FDBF-0D07-7120E8268B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913" y="222005"/>
            <a:ext cx="805706" cy="91440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44E04FB-2461-DF9F-F758-6FCA96E4C2A4}"/>
              </a:ext>
            </a:extLst>
          </p:cNvPr>
          <p:cNvSpPr/>
          <p:nvPr/>
        </p:nvSpPr>
        <p:spPr>
          <a:xfrm>
            <a:off x="8042460" y="1202208"/>
            <a:ext cx="4364883" cy="718345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选择原因：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效率优先 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&gt;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“最后一公里”接驳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&gt;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环保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1AE72C3-7275-DE16-6819-2A910839E126}"/>
              </a:ext>
            </a:extLst>
          </p:cNvPr>
          <p:cNvSpPr/>
          <p:nvPr/>
        </p:nvSpPr>
        <p:spPr>
          <a:xfrm>
            <a:off x="8031914" y="2121405"/>
            <a:ext cx="4375430" cy="738184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替代结构：</a:t>
            </a: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步行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&gt;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自有车≈网约车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私家车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390C22-2AD4-CCB6-B574-39B3443D07B2}"/>
              </a:ext>
            </a:extLst>
          </p:cNvPr>
          <p:cNvSpPr txBox="1"/>
          <p:nvPr/>
        </p:nvSpPr>
        <p:spPr>
          <a:xfrm>
            <a:off x="8430339" y="206838"/>
            <a:ext cx="1217241" cy="707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+mn-ea"/>
              </a:rPr>
              <a:t>用户使用</a:t>
            </a:r>
            <a:endParaRPr lang="en-US" altLang="zh-CN" sz="2000" b="1" dirty="0">
              <a:latin typeface="+mn-ea"/>
            </a:endParaRPr>
          </a:p>
          <a:p>
            <a:r>
              <a:rPr lang="zh-CN" altLang="en-US" sz="2000" b="1" dirty="0">
                <a:latin typeface="+mn-ea"/>
              </a:rPr>
              <a:t>行为分析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E03FF85-AFD7-E121-7295-BBB70E56BBDC}"/>
              </a:ext>
            </a:extLst>
          </p:cNvPr>
          <p:cNvSpPr txBox="1"/>
          <p:nvPr/>
        </p:nvSpPr>
        <p:spPr>
          <a:xfrm>
            <a:off x="1033666" y="340043"/>
            <a:ext cx="1539489" cy="707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+mn-ea"/>
              </a:rPr>
              <a:t>研究背景</a:t>
            </a:r>
            <a:endParaRPr lang="en-US" altLang="zh-CN" sz="2000" b="1" dirty="0">
              <a:latin typeface="+mn-ea"/>
            </a:endParaRPr>
          </a:p>
          <a:p>
            <a:r>
              <a:rPr lang="zh-CN" altLang="en-US" sz="2000" b="1" dirty="0">
                <a:latin typeface="+mn-ea"/>
              </a:rPr>
              <a:t>与问题引入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26F5C9A-B0C2-0892-BF90-77B163764FAF}"/>
              </a:ext>
            </a:extLst>
          </p:cNvPr>
          <p:cNvSpPr/>
          <p:nvPr/>
        </p:nvSpPr>
        <p:spPr>
          <a:xfrm>
            <a:off x="208067" y="1338546"/>
            <a:ext cx="4295626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共享单车是否真的低碳？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B39B53D-1567-B549-8885-471558210A2A}"/>
              </a:ext>
            </a:extLst>
          </p:cNvPr>
          <p:cNvSpPr/>
          <p:nvPr/>
        </p:nvSpPr>
        <p:spPr>
          <a:xfrm>
            <a:off x="208067" y="2246183"/>
            <a:ext cx="4295626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生产回收端的“碳债”能否被骑行抵消？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D9AC995-7010-A173-1A12-D30C114BAD6A}"/>
              </a:ext>
            </a:extLst>
          </p:cNvPr>
          <p:cNvSpPr/>
          <p:nvPr/>
        </p:nvSpPr>
        <p:spPr>
          <a:xfrm>
            <a:off x="208067" y="3130151"/>
            <a:ext cx="4295625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调度、运维是否会产生新的“增排”？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46DD8C4-8065-08CB-2EA5-47CF7197C0CF}"/>
              </a:ext>
            </a:extLst>
          </p:cNvPr>
          <p:cNvSpPr txBox="1"/>
          <p:nvPr/>
        </p:nvSpPr>
        <p:spPr>
          <a:xfrm>
            <a:off x="5451553" y="392004"/>
            <a:ext cx="1492328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+mn-ea"/>
              </a:rPr>
              <a:t>研究设计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9E34C4A-5C64-483A-DFEC-E09943F096E0}"/>
              </a:ext>
            </a:extLst>
          </p:cNvPr>
          <p:cNvSpPr/>
          <p:nvPr/>
        </p:nvSpPr>
        <p:spPr>
          <a:xfrm>
            <a:off x="5105170" y="1279517"/>
            <a:ext cx="1838712" cy="554876"/>
          </a:xfrm>
          <a:prstGeom prst="roundRect">
            <a:avLst/>
          </a:prstGeom>
          <a:solidFill>
            <a:srgbClr val="FBE3D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问卷调查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CE1FEAD-CDC9-0E07-5C43-52F312DDE5B9}"/>
              </a:ext>
            </a:extLst>
          </p:cNvPr>
          <p:cNvSpPr/>
          <p:nvPr/>
        </p:nvSpPr>
        <p:spPr>
          <a:xfrm>
            <a:off x="5105171" y="2190954"/>
            <a:ext cx="1838710" cy="554876"/>
          </a:xfrm>
          <a:prstGeom prst="roundRect">
            <a:avLst/>
          </a:prstGeom>
          <a:solidFill>
            <a:srgbClr val="FBE3D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资料查询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DAD24A6-3ADF-FB3E-7E1F-416E4222FAB9}"/>
              </a:ext>
            </a:extLst>
          </p:cNvPr>
          <p:cNvSpPr txBox="1"/>
          <p:nvPr/>
        </p:nvSpPr>
        <p:spPr>
          <a:xfrm>
            <a:off x="1050645" y="4404589"/>
            <a:ext cx="2235403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全生命周期碳核算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1F2E21C-FC58-6014-9529-AC1852D38913}"/>
              </a:ext>
            </a:extLst>
          </p:cNvPr>
          <p:cNvSpPr/>
          <p:nvPr/>
        </p:nvSpPr>
        <p:spPr>
          <a:xfrm>
            <a:off x="3286048" y="5747638"/>
            <a:ext cx="1637490" cy="1133354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共享单车全生命周期能否减排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82A97F57-B5BF-5C06-0887-94C1FA9BD7BA}"/>
              </a:ext>
            </a:extLst>
          </p:cNvPr>
          <p:cNvSpPr/>
          <p:nvPr/>
        </p:nvSpPr>
        <p:spPr>
          <a:xfrm>
            <a:off x="244862" y="5171822"/>
            <a:ext cx="2815837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生产端：制造与原材料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86D42F26-5D60-41AC-3E88-47846EDC498F}"/>
              </a:ext>
            </a:extLst>
          </p:cNvPr>
          <p:cNvSpPr/>
          <p:nvPr/>
        </p:nvSpPr>
        <p:spPr>
          <a:xfrm>
            <a:off x="243015" y="6036877"/>
            <a:ext cx="2811396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运维：调度与维修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1BBA19C0-7A82-21FB-0102-0C72C1995781}"/>
              </a:ext>
            </a:extLst>
          </p:cNvPr>
          <p:cNvSpPr/>
          <p:nvPr/>
        </p:nvSpPr>
        <p:spPr>
          <a:xfrm>
            <a:off x="238574" y="6896236"/>
            <a:ext cx="2815837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回收端：是否规范回收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FFC64ED-84E7-95FC-5905-DD88455C1BAF}"/>
              </a:ext>
            </a:extLst>
          </p:cNvPr>
          <p:cNvSpPr txBox="1"/>
          <p:nvPr/>
        </p:nvSpPr>
        <p:spPr>
          <a:xfrm>
            <a:off x="5819593" y="4461063"/>
            <a:ext cx="2003362" cy="39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+mn-ea"/>
              </a:rPr>
              <a:t>结论与对策建议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C71C646-2DB8-EB1F-64F3-475F7C7F04AB}"/>
              </a:ext>
            </a:extLst>
          </p:cNvPr>
          <p:cNvSpPr/>
          <p:nvPr/>
        </p:nvSpPr>
        <p:spPr>
          <a:xfrm>
            <a:off x="5085024" y="5758839"/>
            <a:ext cx="7570414" cy="437889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建立考核机制：推行“单车碳效率台账”，考核净减排量而非订单量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C692B12-B324-F7C4-A9EA-ED7751814A7E}"/>
              </a:ext>
            </a:extLst>
          </p:cNvPr>
          <p:cNvSpPr/>
          <p:nvPr/>
        </p:nvSpPr>
        <p:spPr>
          <a:xfrm>
            <a:off x="5068561" y="5175414"/>
            <a:ext cx="7570413" cy="437889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优化调度策略：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AI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预测 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+ 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微调度，减少燃油车使用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863A5BD4-FD0C-BD1E-8E07-77BA613294BC}"/>
              </a:ext>
            </a:extLst>
          </p:cNvPr>
          <p:cNvSpPr/>
          <p:nvPr/>
        </p:nvSpPr>
        <p:spPr>
          <a:xfrm>
            <a:off x="5085024" y="6377355"/>
            <a:ext cx="7570414" cy="437889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停车治理：电子围栏 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+ 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柔性奖惩（积分奖励规范停车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清洁）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D36E93BE-696D-8D81-0E50-C29DA0DFAA0F}"/>
              </a:ext>
            </a:extLst>
          </p:cNvPr>
          <p:cNvSpPr/>
          <p:nvPr/>
        </p:nvSpPr>
        <p:spPr>
          <a:xfrm>
            <a:off x="5085025" y="6954729"/>
            <a:ext cx="7570413" cy="437889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源头设计：推行“可拆解设计” 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+ 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回收碳资产化。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22" name="图形 121" descr="希腊柱子 纯色填充">
            <a:extLst>
              <a:ext uri="{FF2B5EF4-FFF2-40B4-BE49-F238E27FC236}">
                <a16:creationId xmlns:a16="http://schemas.microsoft.com/office/drawing/2014/main" id="{075D6FE2-DF1B-2C69-BB97-556F8B5251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4450" y="4206688"/>
            <a:ext cx="914400" cy="928613"/>
          </a:xfrm>
          <a:prstGeom prst="rect">
            <a:avLst/>
          </a:prstGeom>
        </p:spPr>
      </p:pic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BBB8FD89-85E0-6C87-839A-70A629778746}"/>
              </a:ext>
            </a:extLst>
          </p:cNvPr>
          <p:cNvSpPr/>
          <p:nvPr/>
        </p:nvSpPr>
        <p:spPr>
          <a:xfrm>
            <a:off x="5104813" y="3099721"/>
            <a:ext cx="1838710" cy="554876"/>
          </a:xfrm>
          <a:prstGeom prst="roundRect">
            <a:avLst/>
          </a:prstGeom>
          <a:solidFill>
            <a:srgbClr val="FBE3D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样本代替测算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加号 54">
            <a:extLst>
              <a:ext uri="{FF2B5EF4-FFF2-40B4-BE49-F238E27FC236}">
                <a16:creationId xmlns:a16="http://schemas.microsoft.com/office/drawing/2014/main" id="{8082A3D7-1157-281A-6F8F-24016664E799}"/>
              </a:ext>
            </a:extLst>
          </p:cNvPr>
          <p:cNvSpPr/>
          <p:nvPr/>
        </p:nvSpPr>
        <p:spPr>
          <a:xfrm>
            <a:off x="5915647" y="1834397"/>
            <a:ext cx="351383" cy="351383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56" name="加号 55">
            <a:extLst>
              <a:ext uri="{FF2B5EF4-FFF2-40B4-BE49-F238E27FC236}">
                <a16:creationId xmlns:a16="http://schemas.microsoft.com/office/drawing/2014/main" id="{44E045E5-9CD9-5368-4714-ECC4E81E866E}"/>
              </a:ext>
            </a:extLst>
          </p:cNvPr>
          <p:cNvSpPr/>
          <p:nvPr/>
        </p:nvSpPr>
        <p:spPr>
          <a:xfrm>
            <a:off x="5915652" y="2748339"/>
            <a:ext cx="351383" cy="351383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4A32AEBF-5FD2-176D-0443-5D0A430882D4}"/>
              </a:ext>
            </a:extLst>
          </p:cNvPr>
          <p:cNvSpPr/>
          <p:nvPr/>
        </p:nvSpPr>
        <p:spPr>
          <a:xfrm>
            <a:off x="8031918" y="3099716"/>
            <a:ext cx="4375425" cy="788132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运维痛点：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便利性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僵尸车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故障车等负面感知</a:t>
            </a:r>
            <a:endParaRPr lang="en-US" altLang="zh-CN" sz="20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59" name="图形 58" descr="骑自行车 纯色填充">
            <a:extLst>
              <a:ext uri="{FF2B5EF4-FFF2-40B4-BE49-F238E27FC236}">
                <a16:creationId xmlns:a16="http://schemas.microsoft.com/office/drawing/2014/main" id="{F6186F77-9921-12D0-4364-D0FF099747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267" y="4166561"/>
            <a:ext cx="914400" cy="914400"/>
          </a:xfrm>
          <a:prstGeom prst="rect">
            <a:avLst/>
          </a:prstGeom>
        </p:spPr>
      </p:pic>
      <p:cxnSp>
        <p:nvCxnSpPr>
          <p:cNvPr id="97" name="连接符: 肘形 96">
            <a:extLst>
              <a:ext uri="{FF2B5EF4-FFF2-40B4-BE49-F238E27FC236}">
                <a16:creationId xmlns:a16="http://schemas.microsoft.com/office/drawing/2014/main" id="{971EE1A4-A635-78D2-F99D-5BF9FA541440}"/>
              </a:ext>
            </a:extLst>
          </p:cNvPr>
          <p:cNvCxnSpPr>
            <a:cxnSpLocks/>
            <a:stCxn id="34" idx="3"/>
            <a:endCxn id="19" idx="1"/>
          </p:cNvCxnSpPr>
          <p:nvPr/>
        </p:nvCxnSpPr>
        <p:spPr>
          <a:xfrm>
            <a:off x="6943882" y="1556955"/>
            <a:ext cx="1098578" cy="442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5E828338-BE65-9D0C-BC80-D8EAE33CE505}"/>
              </a:ext>
            </a:extLst>
          </p:cNvPr>
          <p:cNvCxnSpPr>
            <a:cxnSpLocks/>
            <a:stCxn id="34" idx="3"/>
            <a:endCxn id="20" idx="1"/>
          </p:cNvCxnSpPr>
          <p:nvPr/>
        </p:nvCxnSpPr>
        <p:spPr>
          <a:xfrm>
            <a:off x="6943882" y="1556955"/>
            <a:ext cx="1088032" cy="93354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连接符: 肘形 107">
            <a:extLst>
              <a:ext uri="{FF2B5EF4-FFF2-40B4-BE49-F238E27FC236}">
                <a16:creationId xmlns:a16="http://schemas.microsoft.com/office/drawing/2014/main" id="{2466530D-492C-D6F4-1093-2C23E3009C08}"/>
              </a:ext>
            </a:extLst>
          </p:cNvPr>
          <p:cNvCxnSpPr>
            <a:cxnSpLocks/>
            <a:stCxn id="34" idx="3"/>
            <a:endCxn id="57" idx="1"/>
          </p:cNvCxnSpPr>
          <p:nvPr/>
        </p:nvCxnSpPr>
        <p:spPr>
          <a:xfrm>
            <a:off x="6943882" y="1556955"/>
            <a:ext cx="1088036" cy="193682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连接符: 肘形 153">
            <a:extLst>
              <a:ext uri="{FF2B5EF4-FFF2-40B4-BE49-F238E27FC236}">
                <a16:creationId xmlns:a16="http://schemas.microsoft.com/office/drawing/2014/main" id="{B3896F3E-66F5-0C90-4F4A-DB0C4D205C72}"/>
              </a:ext>
            </a:extLst>
          </p:cNvPr>
          <p:cNvCxnSpPr>
            <a:cxnSpLocks/>
            <a:stCxn id="38" idx="3"/>
            <a:endCxn id="37" idx="1"/>
          </p:cNvCxnSpPr>
          <p:nvPr/>
        </p:nvCxnSpPr>
        <p:spPr>
          <a:xfrm>
            <a:off x="3060699" y="5449260"/>
            <a:ext cx="225349" cy="86505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连接符: 肘形 164">
            <a:extLst>
              <a:ext uri="{FF2B5EF4-FFF2-40B4-BE49-F238E27FC236}">
                <a16:creationId xmlns:a16="http://schemas.microsoft.com/office/drawing/2014/main" id="{1EFCADC4-848A-CF2E-B536-B22909A820C6}"/>
              </a:ext>
            </a:extLst>
          </p:cNvPr>
          <p:cNvCxnSpPr>
            <a:cxnSpLocks/>
            <a:stCxn id="40" idx="3"/>
            <a:endCxn id="37" idx="1"/>
          </p:cNvCxnSpPr>
          <p:nvPr/>
        </p:nvCxnSpPr>
        <p:spPr>
          <a:xfrm flipV="1">
            <a:off x="3054411" y="6314315"/>
            <a:ext cx="231637" cy="85935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连接符: 肘形 169">
            <a:extLst>
              <a:ext uri="{FF2B5EF4-FFF2-40B4-BE49-F238E27FC236}">
                <a16:creationId xmlns:a16="http://schemas.microsoft.com/office/drawing/2014/main" id="{DEE2906C-D810-8C86-6939-AB3C799804A5}"/>
              </a:ext>
            </a:extLst>
          </p:cNvPr>
          <p:cNvCxnSpPr>
            <a:cxnSpLocks/>
            <a:stCxn id="39" idx="3"/>
            <a:endCxn id="37" idx="1"/>
          </p:cNvCxnSpPr>
          <p:nvPr/>
        </p:nvCxnSpPr>
        <p:spPr>
          <a:xfrm>
            <a:off x="3054411" y="6314315"/>
            <a:ext cx="231637" cy="1270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04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F6261E9-5907-949E-B116-B4B1D34E2550}"/>
              </a:ext>
            </a:extLst>
          </p:cNvPr>
          <p:cNvSpPr/>
          <p:nvPr/>
        </p:nvSpPr>
        <p:spPr>
          <a:xfrm>
            <a:off x="89257" y="1964400"/>
            <a:ext cx="3527956" cy="1640542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778F46-62C7-4DEF-E328-257A6E4B2407}"/>
              </a:ext>
            </a:extLst>
          </p:cNvPr>
          <p:cNvSpPr txBox="1"/>
          <p:nvPr/>
        </p:nvSpPr>
        <p:spPr>
          <a:xfrm>
            <a:off x="919568" y="2051035"/>
            <a:ext cx="2014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+mn-ea"/>
              </a:rPr>
              <a:t>模型简化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D291B4-E08D-224C-9A33-740BD7E30A99}"/>
              </a:ext>
            </a:extLst>
          </p:cNvPr>
          <p:cNvSpPr txBox="1"/>
          <p:nvPr/>
        </p:nvSpPr>
        <p:spPr>
          <a:xfrm>
            <a:off x="178904" y="2635810"/>
            <a:ext cx="3366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将药材三维圆柱体模型简化为一维径向问题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1E81DC-AB43-199A-F084-53247220CA46}"/>
              </a:ext>
            </a:extLst>
          </p:cNvPr>
          <p:cNvSpPr/>
          <p:nvPr/>
        </p:nvSpPr>
        <p:spPr>
          <a:xfrm>
            <a:off x="4302669" y="751735"/>
            <a:ext cx="3527956" cy="1212664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48368EC-8D7E-226E-2343-2C00D5B86D09}"/>
              </a:ext>
            </a:extLst>
          </p:cNvPr>
          <p:cNvSpPr txBox="1"/>
          <p:nvPr/>
        </p:nvSpPr>
        <p:spPr>
          <a:xfrm>
            <a:off x="4392316" y="838370"/>
            <a:ext cx="3366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n-ea"/>
              </a:rPr>
              <a:t>Fourier </a:t>
            </a:r>
            <a:r>
              <a:rPr lang="zh-CN" altLang="en-US" sz="3200" b="1" dirty="0">
                <a:latin typeface="+mn-ea"/>
              </a:rPr>
              <a:t>导热定律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8F2C9F8-B8EC-BE47-1A06-BED649B603B5}"/>
              </a:ext>
            </a:extLst>
          </p:cNvPr>
          <p:cNvSpPr txBox="1"/>
          <p:nvPr/>
        </p:nvSpPr>
        <p:spPr>
          <a:xfrm>
            <a:off x="4392316" y="1423145"/>
            <a:ext cx="336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推导出热传导模型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934006-3EF7-7F36-B7BB-9E4D84BE401D}"/>
              </a:ext>
            </a:extLst>
          </p:cNvPr>
          <p:cNvSpPr/>
          <p:nvPr/>
        </p:nvSpPr>
        <p:spPr>
          <a:xfrm>
            <a:off x="4302669" y="3603356"/>
            <a:ext cx="3527956" cy="1212664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2E4064-28EA-B603-1242-D6DA6665D59E}"/>
              </a:ext>
            </a:extLst>
          </p:cNvPr>
          <p:cNvSpPr txBox="1"/>
          <p:nvPr/>
        </p:nvSpPr>
        <p:spPr>
          <a:xfrm>
            <a:off x="4688861" y="3689991"/>
            <a:ext cx="27555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n-ea"/>
              </a:rPr>
              <a:t>Fick </a:t>
            </a:r>
            <a:r>
              <a:rPr lang="zh-CN" altLang="en-US" sz="3200" b="1" dirty="0">
                <a:latin typeface="+mn-ea"/>
              </a:rPr>
              <a:t>扩散定律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1FB9729-EE8D-5DF8-BC92-165C223C4171}"/>
              </a:ext>
            </a:extLst>
          </p:cNvPr>
          <p:cNvSpPr txBox="1"/>
          <p:nvPr/>
        </p:nvSpPr>
        <p:spPr>
          <a:xfrm>
            <a:off x="4392316" y="4274766"/>
            <a:ext cx="336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推导出水分扩散模型</a:t>
            </a: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956A13CD-917C-AE1C-041E-939F2722937C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>
            <a:off x="3617213" y="2784671"/>
            <a:ext cx="685456" cy="1425017"/>
          </a:xfrm>
          <a:prstGeom prst="bentConnector3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2D7AF057-82AE-FE9D-1072-B740D86FE91D}"/>
              </a:ext>
            </a:extLst>
          </p:cNvPr>
          <p:cNvCxnSpPr>
            <a:cxnSpLocks/>
            <a:endCxn id="12" idx="1"/>
          </p:cNvCxnSpPr>
          <p:nvPr/>
        </p:nvCxnSpPr>
        <p:spPr>
          <a:xfrm rot="5400000" flipH="1" flipV="1">
            <a:off x="3418003" y="1900005"/>
            <a:ext cx="1426604" cy="342728"/>
          </a:xfrm>
          <a:prstGeom prst="bentConnector2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961228D1-94AF-68A0-3557-640CC4F29C8C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7830625" y="1358067"/>
            <a:ext cx="685457" cy="1465568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DCD35186-8949-9710-8F16-30671D2B2035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7830625" y="2823635"/>
            <a:ext cx="685457" cy="1386053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61A85061-8556-CF2F-53C8-1484992E69FE}"/>
              </a:ext>
            </a:extLst>
          </p:cNvPr>
          <p:cNvSpPr/>
          <p:nvPr/>
        </p:nvSpPr>
        <p:spPr>
          <a:xfrm>
            <a:off x="11960945" y="1845846"/>
            <a:ext cx="5198314" cy="1877650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90D39FF-7C7C-DAE2-F052-2F5623023C3E}"/>
              </a:ext>
            </a:extLst>
          </p:cNvPr>
          <p:cNvSpPr txBox="1"/>
          <p:nvPr/>
        </p:nvSpPr>
        <p:spPr>
          <a:xfrm>
            <a:off x="13743813" y="1981127"/>
            <a:ext cx="1811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+mn-ea"/>
              </a:rPr>
              <a:t>模型求解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899FDBA-B2B4-D1F9-475F-ABAA7488FA31}"/>
              </a:ext>
            </a:extLst>
          </p:cNvPr>
          <p:cNvSpPr txBox="1"/>
          <p:nvPr/>
        </p:nvSpPr>
        <p:spPr>
          <a:xfrm>
            <a:off x="11960944" y="2523167"/>
            <a:ext cx="5287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带入题目给定的参数和经验公式</a:t>
            </a:r>
            <a:endParaRPr lang="en-US" altLang="zh-CN" sz="2400" dirty="0"/>
          </a:p>
          <a:p>
            <a:pPr algn="ctr"/>
            <a:r>
              <a:rPr lang="zh-CN" altLang="zh-CN" sz="2400" dirty="0"/>
              <a:t>空间方向采用有限体积法离散</a:t>
            </a:r>
            <a:endParaRPr lang="en-US" altLang="zh-CN" sz="2400" dirty="0"/>
          </a:p>
          <a:p>
            <a:pPr algn="ctr"/>
            <a:r>
              <a:rPr lang="zh-CN" altLang="zh-CN" sz="2400" dirty="0"/>
              <a:t>时间方向采用 Crank–Nicolson 格式</a:t>
            </a:r>
            <a:endParaRPr lang="zh-CN" altLang="en-US" sz="2400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A7FC2F9-D724-3966-38C2-DE58FECDB263}"/>
              </a:ext>
            </a:extLst>
          </p:cNvPr>
          <p:cNvSpPr/>
          <p:nvPr/>
        </p:nvSpPr>
        <p:spPr>
          <a:xfrm>
            <a:off x="8460422" y="1884810"/>
            <a:ext cx="2634018" cy="1877650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480E01F1-E418-1DF6-AE04-B13A8140FDB5}"/>
              </a:ext>
            </a:extLst>
          </p:cNvPr>
          <p:cNvSpPr txBox="1"/>
          <p:nvPr/>
        </p:nvSpPr>
        <p:spPr>
          <a:xfrm>
            <a:off x="8460422" y="1977356"/>
            <a:ext cx="2743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+mn-ea"/>
              </a:rPr>
              <a:t>确定边界条件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1C8B2A8-4EE5-F0A5-D38D-C270860BD05C}"/>
              </a:ext>
            </a:extLst>
          </p:cNvPr>
          <p:cNvSpPr txBox="1"/>
          <p:nvPr/>
        </p:nvSpPr>
        <p:spPr>
          <a:xfrm>
            <a:off x="8415792" y="2562131"/>
            <a:ext cx="27879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中心对称条件</a:t>
            </a:r>
            <a:endParaRPr lang="en-US" altLang="zh-CN" sz="2400" dirty="0"/>
          </a:p>
          <a:p>
            <a:pPr algn="ctr"/>
            <a:r>
              <a:rPr lang="zh-CN" altLang="en-US" sz="2400" dirty="0"/>
              <a:t>表面对流换热</a:t>
            </a:r>
            <a:endParaRPr lang="en-US" altLang="zh-CN" sz="2400" dirty="0"/>
          </a:p>
          <a:p>
            <a:pPr algn="ctr"/>
            <a:r>
              <a:rPr lang="zh-CN" altLang="en-US" sz="2400" dirty="0"/>
              <a:t>表面对流传质</a:t>
            </a:r>
            <a:endParaRPr lang="en-US" altLang="zh-CN" sz="2400" dirty="0"/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4185CBB0-02A0-3512-D3F6-54254F381D28}"/>
              </a:ext>
            </a:extLst>
          </p:cNvPr>
          <p:cNvCxnSpPr>
            <a:cxnSpLocks/>
          </p:cNvCxnSpPr>
          <p:nvPr/>
        </p:nvCxnSpPr>
        <p:spPr>
          <a:xfrm>
            <a:off x="11094440" y="2783877"/>
            <a:ext cx="866503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630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F6F26-1192-5060-DC2A-BB2DC814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327177A-5A98-A14E-F541-616DC69DB235}"/>
              </a:ext>
            </a:extLst>
          </p:cNvPr>
          <p:cNvSpPr/>
          <p:nvPr/>
        </p:nvSpPr>
        <p:spPr>
          <a:xfrm>
            <a:off x="120678" y="2008511"/>
            <a:ext cx="3849985" cy="1785104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AE8FF78-50AA-CC55-9A9B-356EAFA10EAC}"/>
              </a:ext>
            </a:extLst>
          </p:cNvPr>
          <p:cNvSpPr txBox="1"/>
          <p:nvPr/>
        </p:nvSpPr>
        <p:spPr>
          <a:xfrm>
            <a:off x="950990" y="2095146"/>
            <a:ext cx="2014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+mn-ea"/>
              </a:rPr>
              <a:t>坐标变换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A5E3111-90F2-34E0-5B33-CC8B105104DD}"/>
                  </a:ext>
                </a:extLst>
              </p:cNvPr>
              <p:cNvSpPr txBox="1"/>
              <p:nvPr/>
            </p:nvSpPr>
            <p:spPr>
              <a:xfrm>
                <a:off x="101115" y="2679921"/>
                <a:ext cx="3869547" cy="993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/>
                  <a:t>将动物理边界归一化为</a:t>
                </a:r>
                <a14:m>
                  <m:oMath xmlns:m="http://schemas.openxmlformats.org/officeDocument/2006/math">
                    <m:r>
                      <a:rPr lang="de-DE" altLang="zh-CN" sz="240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de-DE" altLang="zh-CN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de-DE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altLang="zh-C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den>
                    </m:f>
                    <m:r>
                      <a:rPr lang="de-DE" altLang="zh-CN" sz="24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de-DE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altLang="zh-CN" sz="2400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zh-CN" altLang="en-US" sz="2400" dirty="0"/>
                  <a:t> ，固定计算区域</a:t>
                </a: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A5E3111-90F2-34E0-5B33-CC8B10510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15" y="2679921"/>
                <a:ext cx="3869547" cy="993862"/>
              </a:xfrm>
              <a:prstGeom prst="rect">
                <a:avLst/>
              </a:prstGeom>
              <a:blipFill>
                <a:blip r:embed="rId2"/>
                <a:stretch>
                  <a:fillRect l="-315" t="-4294" r="-1420" b="-24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B33E09C3-BFDE-41F6-0A9E-06A8E84D1EED}"/>
              </a:ext>
            </a:extLst>
          </p:cNvPr>
          <p:cNvSpPr/>
          <p:nvPr/>
        </p:nvSpPr>
        <p:spPr>
          <a:xfrm>
            <a:off x="4747525" y="1872246"/>
            <a:ext cx="3527956" cy="1212664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CF8EC32-AC85-9247-4B39-A7CE499583D1}"/>
              </a:ext>
            </a:extLst>
          </p:cNvPr>
          <p:cNvSpPr txBox="1"/>
          <p:nvPr/>
        </p:nvSpPr>
        <p:spPr>
          <a:xfrm>
            <a:off x="4837172" y="1958881"/>
            <a:ext cx="3366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n-ea"/>
              </a:rPr>
              <a:t>Fourier </a:t>
            </a:r>
            <a:r>
              <a:rPr lang="zh-CN" altLang="en-US" sz="3200" b="1" dirty="0">
                <a:latin typeface="+mn-ea"/>
              </a:rPr>
              <a:t>导热定律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F464D99-05DD-5623-D8EC-EF94282ABC15}"/>
              </a:ext>
            </a:extLst>
          </p:cNvPr>
          <p:cNvSpPr txBox="1"/>
          <p:nvPr/>
        </p:nvSpPr>
        <p:spPr>
          <a:xfrm>
            <a:off x="4837172" y="2543656"/>
            <a:ext cx="336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推导出热传导模型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9AA3AD-E883-5EDB-E17A-E1532C16FCE5}"/>
              </a:ext>
            </a:extLst>
          </p:cNvPr>
          <p:cNvSpPr/>
          <p:nvPr/>
        </p:nvSpPr>
        <p:spPr>
          <a:xfrm>
            <a:off x="4705649" y="4983890"/>
            <a:ext cx="3527956" cy="1212664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0CB0622-3FC1-C02F-EE30-44EC2F32B502}"/>
              </a:ext>
            </a:extLst>
          </p:cNvPr>
          <p:cNvSpPr txBox="1"/>
          <p:nvPr/>
        </p:nvSpPr>
        <p:spPr>
          <a:xfrm>
            <a:off x="5091841" y="5070525"/>
            <a:ext cx="27555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n-ea"/>
              </a:rPr>
              <a:t>Fick </a:t>
            </a:r>
            <a:r>
              <a:rPr lang="zh-CN" altLang="en-US" sz="3200" b="1" dirty="0">
                <a:latin typeface="+mn-ea"/>
              </a:rPr>
              <a:t>扩散定律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28AB33E-D726-9F17-8CAB-F0D1B15A9540}"/>
              </a:ext>
            </a:extLst>
          </p:cNvPr>
          <p:cNvSpPr txBox="1"/>
          <p:nvPr/>
        </p:nvSpPr>
        <p:spPr>
          <a:xfrm>
            <a:off x="4795296" y="5655300"/>
            <a:ext cx="336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推导出水分扩散模型</a:t>
            </a: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BBD7C90F-971A-818E-28B3-21CB1AEB3704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>
            <a:off x="3970663" y="2901063"/>
            <a:ext cx="734986" cy="2689159"/>
          </a:xfrm>
          <a:prstGeom prst="bentConnector3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57E22398-E633-2082-E12C-2047C3340D09}"/>
              </a:ext>
            </a:extLst>
          </p:cNvPr>
          <p:cNvCxnSpPr>
            <a:cxnSpLocks/>
            <a:endCxn id="12" idx="1"/>
          </p:cNvCxnSpPr>
          <p:nvPr/>
        </p:nvCxnSpPr>
        <p:spPr>
          <a:xfrm rot="5400000" flipH="1" flipV="1">
            <a:off x="4317064" y="2509782"/>
            <a:ext cx="461665" cy="399258"/>
          </a:xfrm>
          <a:prstGeom prst="bentConnector2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FAF579B8-38EF-7E8D-01B3-BEA7806FD5FF}"/>
              </a:ext>
            </a:extLst>
          </p:cNvPr>
          <p:cNvCxnSpPr>
            <a:cxnSpLocks/>
            <a:stCxn id="12" idx="3"/>
            <a:endCxn id="75" idx="1"/>
          </p:cNvCxnSpPr>
          <p:nvPr/>
        </p:nvCxnSpPr>
        <p:spPr>
          <a:xfrm>
            <a:off x="8275481" y="2478578"/>
            <a:ext cx="454435" cy="714873"/>
          </a:xfrm>
          <a:prstGeom prst="bentConnector3">
            <a:avLst>
              <a:gd name="adj1" fmla="val 43578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14729CB1-F343-DE55-BA92-721F649F47BD}"/>
              </a:ext>
            </a:extLst>
          </p:cNvPr>
          <p:cNvCxnSpPr>
            <a:cxnSpLocks/>
            <a:stCxn id="18" idx="3"/>
            <a:endCxn id="75" idx="1"/>
          </p:cNvCxnSpPr>
          <p:nvPr/>
        </p:nvCxnSpPr>
        <p:spPr>
          <a:xfrm flipV="1">
            <a:off x="8233605" y="3193451"/>
            <a:ext cx="496311" cy="2396771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F86F642E-4FF8-E5DD-5A3A-FC5F052EEFED}"/>
              </a:ext>
            </a:extLst>
          </p:cNvPr>
          <p:cNvSpPr/>
          <p:nvPr/>
        </p:nvSpPr>
        <p:spPr>
          <a:xfrm>
            <a:off x="11992367" y="1889957"/>
            <a:ext cx="5198314" cy="1877650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9BDFA3A-1860-2356-C954-F2C76A86A24C}"/>
              </a:ext>
            </a:extLst>
          </p:cNvPr>
          <p:cNvSpPr txBox="1"/>
          <p:nvPr/>
        </p:nvSpPr>
        <p:spPr>
          <a:xfrm>
            <a:off x="13775235" y="2025238"/>
            <a:ext cx="1811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+mn-ea"/>
              </a:rPr>
              <a:t>模型求解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425383C-E90F-28CA-59D5-47968F3E1E40}"/>
              </a:ext>
            </a:extLst>
          </p:cNvPr>
          <p:cNvSpPr txBox="1"/>
          <p:nvPr/>
        </p:nvSpPr>
        <p:spPr>
          <a:xfrm>
            <a:off x="11992366" y="2567278"/>
            <a:ext cx="5287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带入题目给定的参数和经验公式</a:t>
            </a:r>
            <a:endParaRPr lang="en-US" altLang="zh-CN" sz="2400" dirty="0"/>
          </a:p>
          <a:p>
            <a:pPr algn="ctr"/>
            <a:r>
              <a:rPr lang="zh-CN" altLang="zh-CN" sz="2400" dirty="0"/>
              <a:t>空间方向采用有限体积法离散</a:t>
            </a:r>
            <a:endParaRPr lang="en-US" altLang="zh-CN" sz="2400" dirty="0"/>
          </a:p>
          <a:p>
            <a:pPr algn="ctr"/>
            <a:r>
              <a:rPr lang="zh-CN" altLang="zh-CN" sz="2400" dirty="0"/>
              <a:t>时间方向采用 Crank–Nicolson 格式</a:t>
            </a:r>
            <a:endParaRPr lang="zh-CN" altLang="en-US" sz="2400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377BEDB-0B8B-C426-DAFB-8438CE5DFDA2}"/>
              </a:ext>
            </a:extLst>
          </p:cNvPr>
          <p:cNvSpPr/>
          <p:nvPr/>
        </p:nvSpPr>
        <p:spPr>
          <a:xfrm>
            <a:off x="8774546" y="1915965"/>
            <a:ext cx="2634018" cy="1877650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F756BB9-F451-102E-2C31-3D57B6358BAC}"/>
              </a:ext>
            </a:extLst>
          </p:cNvPr>
          <p:cNvSpPr txBox="1"/>
          <p:nvPr/>
        </p:nvSpPr>
        <p:spPr>
          <a:xfrm>
            <a:off x="8774546" y="2008511"/>
            <a:ext cx="2743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+mn-ea"/>
              </a:rPr>
              <a:t>确定边界条件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E64BD95-FD49-EEFC-DCA0-A825290CFEED}"/>
              </a:ext>
            </a:extLst>
          </p:cNvPr>
          <p:cNvSpPr txBox="1"/>
          <p:nvPr/>
        </p:nvSpPr>
        <p:spPr>
          <a:xfrm>
            <a:off x="8729916" y="2593286"/>
            <a:ext cx="27879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中心对称条件</a:t>
            </a:r>
            <a:endParaRPr lang="en-US" altLang="zh-CN" sz="2400" dirty="0"/>
          </a:p>
          <a:p>
            <a:pPr algn="ctr"/>
            <a:r>
              <a:rPr lang="zh-CN" altLang="en-US" sz="2400" dirty="0"/>
              <a:t>表面对流换热</a:t>
            </a:r>
            <a:endParaRPr lang="en-US" altLang="zh-CN" sz="2400" dirty="0"/>
          </a:p>
          <a:p>
            <a:pPr algn="ctr"/>
            <a:r>
              <a:rPr lang="zh-CN" altLang="en-US" sz="2400" dirty="0"/>
              <a:t>表面对流传质</a:t>
            </a:r>
            <a:endParaRPr lang="en-US" altLang="zh-CN" sz="2400" dirty="0"/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D68E5F91-3EEF-75DB-F588-58DFA5CEEA6D}"/>
              </a:ext>
            </a:extLst>
          </p:cNvPr>
          <p:cNvCxnSpPr>
            <a:cxnSpLocks/>
          </p:cNvCxnSpPr>
          <p:nvPr/>
        </p:nvCxnSpPr>
        <p:spPr>
          <a:xfrm>
            <a:off x="11408564" y="2827988"/>
            <a:ext cx="583801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A5409BF-3EFA-7958-A0BA-87D6BFDF93FC}"/>
              </a:ext>
            </a:extLst>
          </p:cNvPr>
          <p:cNvCxnSpPr>
            <a:cxnSpLocks/>
          </p:cNvCxnSpPr>
          <p:nvPr/>
        </p:nvCxnSpPr>
        <p:spPr>
          <a:xfrm flipV="1">
            <a:off x="6168826" y="3211362"/>
            <a:ext cx="0" cy="146982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28A9ED6-A678-9C72-350B-3D41A2E37D69}"/>
              </a:ext>
            </a:extLst>
          </p:cNvPr>
          <p:cNvCxnSpPr>
            <a:cxnSpLocks/>
          </p:cNvCxnSpPr>
          <p:nvPr/>
        </p:nvCxnSpPr>
        <p:spPr>
          <a:xfrm>
            <a:off x="6360319" y="3257678"/>
            <a:ext cx="0" cy="139023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A42C951-132A-5D2F-1A3A-CA205A8E9992}"/>
              </a:ext>
            </a:extLst>
          </p:cNvPr>
          <p:cNvSpPr txBox="1"/>
          <p:nvPr/>
        </p:nvSpPr>
        <p:spPr>
          <a:xfrm>
            <a:off x="6290010" y="3548102"/>
            <a:ext cx="1077090" cy="109980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ctr" defTabSz="4570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热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-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湿双向耦合</a:t>
            </a:r>
          </a:p>
          <a:p>
            <a:pPr algn="ctr"/>
            <a:endParaRPr lang="zh-CN" altLang="en-US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5EEFE63-44B3-1604-9C6B-B78ED4F55CA2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14636152" y="3767607"/>
            <a:ext cx="0" cy="109252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EB7C8DA3-DE2A-E8C6-FBEE-0B5E6A9AFB7D}"/>
              </a:ext>
            </a:extLst>
          </p:cNvPr>
          <p:cNvSpPr/>
          <p:nvPr/>
        </p:nvSpPr>
        <p:spPr>
          <a:xfrm>
            <a:off x="13319142" y="4925201"/>
            <a:ext cx="2634018" cy="1535234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4D6AFE-9987-2972-98C9-20DE1361A294}"/>
              </a:ext>
            </a:extLst>
          </p:cNvPr>
          <p:cNvSpPr txBox="1"/>
          <p:nvPr/>
        </p:nvSpPr>
        <p:spPr>
          <a:xfrm>
            <a:off x="13730388" y="4926562"/>
            <a:ext cx="1901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+mn-ea"/>
              </a:rPr>
              <a:t>迭代耦合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98506D7-0AF3-A7AA-FFD6-39C25582F1C5}"/>
              </a:ext>
            </a:extLst>
          </p:cNvPr>
          <p:cNvSpPr txBox="1"/>
          <p:nvPr/>
        </p:nvSpPr>
        <p:spPr>
          <a:xfrm>
            <a:off x="13242163" y="5511337"/>
            <a:ext cx="2787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dirty="0"/>
              <a:t>Picard迭代</a:t>
            </a:r>
            <a:r>
              <a:rPr lang="zh-CN" altLang="en-US" sz="2400" dirty="0"/>
              <a:t>并更新函数直到收敛</a:t>
            </a:r>
            <a:endParaRPr lang="en-US" altLang="zh-CN" sz="2400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0AC8016-47A4-35F6-2FE5-FAD5A835B665}"/>
              </a:ext>
            </a:extLst>
          </p:cNvPr>
          <p:cNvSpPr/>
          <p:nvPr/>
        </p:nvSpPr>
        <p:spPr>
          <a:xfrm>
            <a:off x="270015" y="4659890"/>
            <a:ext cx="3551309" cy="1640542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07CDC72-EFAB-2B47-AAB5-E47326D072F7}"/>
              </a:ext>
            </a:extLst>
          </p:cNvPr>
          <p:cNvSpPr txBox="1"/>
          <p:nvPr/>
        </p:nvSpPr>
        <p:spPr>
          <a:xfrm>
            <a:off x="1206816" y="4742004"/>
            <a:ext cx="1871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+mn-ea"/>
              </a:rPr>
              <a:t>确定半径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1E00ABDE-1CF4-4374-6C3D-5F3235A724F0}"/>
                  </a:ext>
                </a:extLst>
              </p:cNvPr>
              <p:cNvSpPr txBox="1"/>
              <p:nvPr/>
            </p:nvSpPr>
            <p:spPr>
              <a:xfrm>
                <a:off x="376179" y="5393861"/>
                <a:ext cx="338672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/>
                  <a:t>通过附件</a:t>
                </a:r>
                <a:r>
                  <a:rPr lang="en-US" altLang="zh-CN" sz="2400" dirty="0"/>
                  <a:t>2</a:t>
                </a:r>
                <a:r>
                  <a:rPr lang="zh-CN" altLang="en-US" sz="2400" dirty="0"/>
                  <a:t>中的实测数据利用线性插值得到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2400" dirty="0"/>
                  <a:t>(t)</a:t>
                </a:r>
              </a:p>
            </p:txBody>
          </p:sp>
        </mc:Choice>
        <mc:Fallback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1E00ABDE-1CF4-4374-6C3D-5F3235A72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79" y="5393861"/>
                <a:ext cx="3386728" cy="830997"/>
              </a:xfrm>
              <a:prstGeom prst="rect">
                <a:avLst/>
              </a:prstGeom>
              <a:blipFill>
                <a:blip r:embed="rId3"/>
                <a:stretch>
                  <a:fillRect l="-4144" t="-5882" r="-4144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A1251C28-BE0A-8566-BDC8-47969640EA3C}"/>
              </a:ext>
            </a:extLst>
          </p:cNvPr>
          <p:cNvCxnSpPr>
            <a:cxnSpLocks/>
            <a:stCxn id="34" idx="0"/>
            <a:endCxn id="5" idx="2"/>
          </p:cNvCxnSpPr>
          <p:nvPr/>
        </p:nvCxnSpPr>
        <p:spPr>
          <a:xfrm flipV="1">
            <a:off x="2045670" y="3793615"/>
            <a:ext cx="1" cy="86627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670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CFC00-915B-1A57-8DFE-68D71CAF9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39AAD3B-BCE3-E797-A8D0-26D31BC20F27}"/>
              </a:ext>
            </a:extLst>
          </p:cNvPr>
          <p:cNvSpPr/>
          <p:nvPr/>
        </p:nvSpPr>
        <p:spPr>
          <a:xfrm>
            <a:off x="89257" y="1964400"/>
            <a:ext cx="3527956" cy="1640542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B6A2F9-08FC-9EA7-AA4E-0524E469B48B}"/>
              </a:ext>
            </a:extLst>
          </p:cNvPr>
          <p:cNvSpPr txBox="1"/>
          <p:nvPr/>
        </p:nvSpPr>
        <p:spPr>
          <a:xfrm>
            <a:off x="919568" y="2051035"/>
            <a:ext cx="2014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+mn-ea"/>
              </a:rPr>
              <a:t>模型简化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AB9A3B-6096-0E3E-0048-FCF40F427BD3}"/>
              </a:ext>
            </a:extLst>
          </p:cNvPr>
          <p:cNvSpPr txBox="1"/>
          <p:nvPr/>
        </p:nvSpPr>
        <p:spPr>
          <a:xfrm>
            <a:off x="178904" y="2635810"/>
            <a:ext cx="3366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将药材三维圆柱体模型简化为一维径向问题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7E1C20-27AE-2D44-39E1-A0C99D169BD3}"/>
              </a:ext>
            </a:extLst>
          </p:cNvPr>
          <p:cNvSpPr/>
          <p:nvPr/>
        </p:nvSpPr>
        <p:spPr>
          <a:xfrm>
            <a:off x="4302669" y="751735"/>
            <a:ext cx="3527956" cy="1212664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79D5850-8CCA-EF07-92CD-B6B902499015}"/>
              </a:ext>
            </a:extLst>
          </p:cNvPr>
          <p:cNvSpPr txBox="1"/>
          <p:nvPr/>
        </p:nvSpPr>
        <p:spPr>
          <a:xfrm>
            <a:off x="4392316" y="838370"/>
            <a:ext cx="3366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n-ea"/>
              </a:rPr>
              <a:t>Fourier </a:t>
            </a:r>
            <a:r>
              <a:rPr lang="zh-CN" altLang="en-US" sz="3200" b="1" dirty="0">
                <a:latin typeface="+mn-ea"/>
              </a:rPr>
              <a:t>导热定律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B06D06E-046A-5697-F4F0-FA44EEE49A59}"/>
              </a:ext>
            </a:extLst>
          </p:cNvPr>
          <p:cNvSpPr txBox="1"/>
          <p:nvPr/>
        </p:nvSpPr>
        <p:spPr>
          <a:xfrm>
            <a:off x="4392316" y="1423145"/>
            <a:ext cx="336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推导出热传导模型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01495B4-5DC2-44FD-612E-4508153F9161}"/>
              </a:ext>
            </a:extLst>
          </p:cNvPr>
          <p:cNvSpPr/>
          <p:nvPr/>
        </p:nvSpPr>
        <p:spPr>
          <a:xfrm>
            <a:off x="4302669" y="3603356"/>
            <a:ext cx="3527956" cy="1212664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6F3E303-4CA1-E5C7-4962-6D3C2D48F629}"/>
              </a:ext>
            </a:extLst>
          </p:cNvPr>
          <p:cNvSpPr txBox="1"/>
          <p:nvPr/>
        </p:nvSpPr>
        <p:spPr>
          <a:xfrm>
            <a:off x="4688861" y="3689991"/>
            <a:ext cx="27555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n-ea"/>
              </a:rPr>
              <a:t>Fick </a:t>
            </a:r>
            <a:r>
              <a:rPr lang="zh-CN" altLang="en-US" sz="3200" b="1" dirty="0">
                <a:latin typeface="+mn-ea"/>
              </a:rPr>
              <a:t>扩散定律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869961-1F8F-A7C7-E9E1-4F6FFE80B65C}"/>
              </a:ext>
            </a:extLst>
          </p:cNvPr>
          <p:cNvSpPr txBox="1"/>
          <p:nvPr/>
        </p:nvSpPr>
        <p:spPr>
          <a:xfrm>
            <a:off x="4392316" y="4274766"/>
            <a:ext cx="3366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推导出水分扩散模型</a:t>
            </a: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52C5030A-3400-8046-B92C-521EDF44DF41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>
            <a:off x="3617213" y="2784671"/>
            <a:ext cx="685456" cy="1425017"/>
          </a:xfrm>
          <a:prstGeom prst="bentConnector3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66176BE0-F257-2A1C-6A1A-9F124523C882}"/>
              </a:ext>
            </a:extLst>
          </p:cNvPr>
          <p:cNvCxnSpPr>
            <a:cxnSpLocks/>
            <a:endCxn id="12" idx="1"/>
          </p:cNvCxnSpPr>
          <p:nvPr/>
        </p:nvCxnSpPr>
        <p:spPr>
          <a:xfrm rot="5400000" flipH="1" flipV="1">
            <a:off x="3418003" y="1900005"/>
            <a:ext cx="1426604" cy="342728"/>
          </a:xfrm>
          <a:prstGeom prst="bentConnector2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F2E44D70-B5F8-3EAA-D31B-CB5EC6A4F58F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7830625" y="1358067"/>
            <a:ext cx="685457" cy="1465568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573FAF37-ADF1-8C28-D7A1-9145AE2063AD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7830625" y="2823635"/>
            <a:ext cx="685457" cy="1386053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07251CEE-A4F0-F17C-FD6B-427D90447A0E}"/>
              </a:ext>
            </a:extLst>
          </p:cNvPr>
          <p:cNvSpPr/>
          <p:nvPr/>
        </p:nvSpPr>
        <p:spPr>
          <a:xfrm>
            <a:off x="11960945" y="1845846"/>
            <a:ext cx="5198314" cy="1877650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47A9B53-CF14-282B-0AEF-3B35B2BC5545}"/>
              </a:ext>
            </a:extLst>
          </p:cNvPr>
          <p:cNvSpPr txBox="1"/>
          <p:nvPr/>
        </p:nvSpPr>
        <p:spPr>
          <a:xfrm>
            <a:off x="13743813" y="1981127"/>
            <a:ext cx="1811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+mn-ea"/>
              </a:rPr>
              <a:t>模型求解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B26B1DE-7AB6-A393-E08D-633B8095601C}"/>
              </a:ext>
            </a:extLst>
          </p:cNvPr>
          <p:cNvSpPr txBox="1"/>
          <p:nvPr/>
        </p:nvSpPr>
        <p:spPr>
          <a:xfrm>
            <a:off x="11960944" y="2523167"/>
            <a:ext cx="5287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带入题目给定的参数和经验公式</a:t>
            </a:r>
            <a:endParaRPr lang="en-US" altLang="zh-CN" sz="2400" dirty="0"/>
          </a:p>
          <a:p>
            <a:pPr algn="ctr"/>
            <a:r>
              <a:rPr lang="zh-CN" altLang="zh-CN" sz="2400" dirty="0"/>
              <a:t>空间方向采用有限体积法离散</a:t>
            </a:r>
            <a:endParaRPr lang="en-US" altLang="zh-CN" sz="2400" dirty="0"/>
          </a:p>
          <a:p>
            <a:pPr algn="ctr"/>
            <a:r>
              <a:rPr lang="zh-CN" altLang="zh-CN" sz="2400" dirty="0"/>
              <a:t>时间方向采用 Crank–Nicolson 格式</a:t>
            </a:r>
            <a:endParaRPr lang="zh-CN" altLang="en-US" sz="2400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C5D8E18-C130-F34B-C1C0-81D69B453D08}"/>
              </a:ext>
            </a:extLst>
          </p:cNvPr>
          <p:cNvSpPr/>
          <p:nvPr/>
        </p:nvSpPr>
        <p:spPr>
          <a:xfrm>
            <a:off x="8460422" y="1884810"/>
            <a:ext cx="2634018" cy="1877650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A994B30-3D05-C9B0-87DF-EF0931416D78}"/>
              </a:ext>
            </a:extLst>
          </p:cNvPr>
          <p:cNvSpPr txBox="1"/>
          <p:nvPr/>
        </p:nvSpPr>
        <p:spPr>
          <a:xfrm>
            <a:off x="8460422" y="1977356"/>
            <a:ext cx="2743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+mn-ea"/>
              </a:rPr>
              <a:t>确定边界条件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13D942C-C4B0-2E0F-EAF5-2F0F7A0ED3F7}"/>
              </a:ext>
            </a:extLst>
          </p:cNvPr>
          <p:cNvSpPr txBox="1"/>
          <p:nvPr/>
        </p:nvSpPr>
        <p:spPr>
          <a:xfrm>
            <a:off x="8415792" y="2562131"/>
            <a:ext cx="27879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中心对称条件</a:t>
            </a:r>
            <a:endParaRPr lang="en-US" altLang="zh-CN" sz="2400" dirty="0"/>
          </a:p>
          <a:p>
            <a:pPr algn="ctr"/>
            <a:r>
              <a:rPr lang="zh-CN" altLang="en-US" sz="2400" dirty="0"/>
              <a:t>表面对流换热</a:t>
            </a:r>
            <a:endParaRPr lang="en-US" altLang="zh-CN" sz="2400" dirty="0"/>
          </a:p>
          <a:p>
            <a:pPr algn="ctr"/>
            <a:r>
              <a:rPr lang="zh-CN" altLang="en-US" sz="2400" dirty="0"/>
              <a:t>表面对流传质</a:t>
            </a:r>
            <a:endParaRPr lang="en-US" altLang="zh-CN" sz="2400" dirty="0"/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B4D2F276-DBBD-5424-2E2E-AB039A1FDAE5}"/>
              </a:ext>
            </a:extLst>
          </p:cNvPr>
          <p:cNvCxnSpPr>
            <a:cxnSpLocks/>
          </p:cNvCxnSpPr>
          <p:nvPr/>
        </p:nvCxnSpPr>
        <p:spPr>
          <a:xfrm>
            <a:off x="11094440" y="2783877"/>
            <a:ext cx="866503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487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464A7C1-4916-F52D-99C3-048EE2532E56}"/>
              </a:ext>
            </a:extLst>
          </p:cNvPr>
          <p:cNvCxnSpPr>
            <a:cxnSpLocks/>
          </p:cNvCxnSpPr>
          <p:nvPr/>
        </p:nvCxnSpPr>
        <p:spPr>
          <a:xfrm>
            <a:off x="9484129" y="6673995"/>
            <a:ext cx="7036904" cy="0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B62B736-CCE1-E971-7D6C-95DC0FECCF8D}"/>
              </a:ext>
            </a:extLst>
          </p:cNvPr>
          <p:cNvCxnSpPr>
            <a:cxnSpLocks/>
          </p:cNvCxnSpPr>
          <p:nvPr/>
        </p:nvCxnSpPr>
        <p:spPr>
          <a:xfrm flipV="1">
            <a:off x="10220288" y="3067291"/>
            <a:ext cx="0" cy="4434965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CBB1C20-5360-AB16-1D6C-9D2EB0453C87}"/>
              </a:ext>
            </a:extLst>
          </p:cNvPr>
          <p:cNvSpPr txBox="1"/>
          <p:nvPr/>
        </p:nvSpPr>
        <p:spPr>
          <a:xfrm>
            <a:off x="15163352" y="6944974"/>
            <a:ext cx="16399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/>
              <a:t>径向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0B7319-6262-B50B-4740-F3ADDD40F586}"/>
              </a:ext>
            </a:extLst>
          </p:cNvPr>
          <p:cNvSpPr/>
          <p:nvPr/>
        </p:nvSpPr>
        <p:spPr>
          <a:xfrm>
            <a:off x="10285216" y="4271192"/>
            <a:ext cx="5625548" cy="745429"/>
          </a:xfrm>
          <a:prstGeom prst="rect">
            <a:avLst/>
          </a:prstGeom>
          <a:solidFill>
            <a:srgbClr val="797A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D990668-7787-42C0-BDAC-18F90BAF570C}"/>
              </a:ext>
            </a:extLst>
          </p:cNvPr>
          <p:cNvCxnSpPr>
            <a:cxnSpLocks/>
          </p:cNvCxnSpPr>
          <p:nvPr/>
        </p:nvCxnSpPr>
        <p:spPr>
          <a:xfrm flipV="1">
            <a:off x="13329372" y="4271192"/>
            <a:ext cx="0" cy="745429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0985319-2FB5-E7D7-650F-268A3EA61B32}"/>
              </a:ext>
            </a:extLst>
          </p:cNvPr>
          <p:cNvCxnSpPr>
            <a:cxnSpLocks/>
          </p:cNvCxnSpPr>
          <p:nvPr/>
        </p:nvCxnSpPr>
        <p:spPr>
          <a:xfrm flipV="1">
            <a:off x="13541039" y="4271191"/>
            <a:ext cx="0" cy="745429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2238B61-82E9-F134-E1AA-60C793DD83D7}"/>
              </a:ext>
            </a:extLst>
          </p:cNvPr>
          <p:cNvCxnSpPr/>
          <p:nvPr/>
        </p:nvCxnSpPr>
        <p:spPr>
          <a:xfrm>
            <a:off x="13329372" y="5016620"/>
            <a:ext cx="0" cy="325966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EE6C45A7-EC01-B3B5-AA31-11E95479EEC4}"/>
              </a:ext>
            </a:extLst>
          </p:cNvPr>
          <p:cNvCxnSpPr/>
          <p:nvPr/>
        </p:nvCxnSpPr>
        <p:spPr>
          <a:xfrm>
            <a:off x="13545188" y="5016620"/>
            <a:ext cx="0" cy="325966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7FBDC3B3-19A8-2F79-3382-88E9FBE1BB3A}"/>
              </a:ext>
            </a:extLst>
          </p:cNvPr>
          <p:cNvCxnSpPr>
            <a:cxnSpLocks/>
          </p:cNvCxnSpPr>
          <p:nvPr/>
        </p:nvCxnSpPr>
        <p:spPr>
          <a:xfrm>
            <a:off x="10291312" y="5180502"/>
            <a:ext cx="303806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6F3333A9-90F7-8BE3-AB55-1F0354AC6627}"/>
                  </a:ext>
                </a:extLst>
              </p:cNvPr>
              <p:cNvSpPr txBox="1"/>
              <p:nvPr/>
            </p:nvSpPr>
            <p:spPr>
              <a:xfrm>
                <a:off x="11088784" y="5340950"/>
                <a:ext cx="135411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6F3333A9-90F7-8BE3-AB55-1F0354AC6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8784" y="5340950"/>
                <a:ext cx="1354113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6115445-E87D-148A-15E3-ABE295F5D687}"/>
              </a:ext>
            </a:extLst>
          </p:cNvPr>
          <p:cNvCxnSpPr>
            <a:cxnSpLocks/>
          </p:cNvCxnSpPr>
          <p:nvPr/>
        </p:nvCxnSpPr>
        <p:spPr>
          <a:xfrm>
            <a:off x="13329372" y="5179603"/>
            <a:ext cx="21166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71516664-3F5D-64DD-1DAB-D1312B3AF187}"/>
                  </a:ext>
                </a:extLst>
              </p:cNvPr>
              <p:cNvSpPr txBox="1"/>
              <p:nvPr/>
            </p:nvSpPr>
            <p:spPr>
              <a:xfrm>
                <a:off x="12746987" y="5355864"/>
                <a:ext cx="135411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71516664-3F5D-64DD-1DAB-D1312B3AF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6987" y="5355864"/>
                <a:ext cx="1354113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组合 70">
            <a:extLst>
              <a:ext uri="{FF2B5EF4-FFF2-40B4-BE49-F238E27FC236}">
                <a16:creationId xmlns:a16="http://schemas.microsoft.com/office/drawing/2014/main" id="{D35901C5-CA52-D00A-9307-8376701A7478}"/>
              </a:ext>
            </a:extLst>
          </p:cNvPr>
          <p:cNvGrpSpPr/>
          <p:nvPr/>
        </p:nvGrpSpPr>
        <p:grpSpPr>
          <a:xfrm>
            <a:off x="14732660" y="2447359"/>
            <a:ext cx="6825426" cy="6910546"/>
            <a:chOff x="9379405" y="353511"/>
            <a:chExt cx="6825426" cy="6910546"/>
          </a:xfrm>
        </p:grpSpPr>
        <p:sp>
          <p:nvSpPr>
            <p:cNvPr id="61" name="空心弧 60">
              <a:extLst>
                <a:ext uri="{FF2B5EF4-FFF2-40B4-BE49-F238E27FC236}">
                  <a16:creationId xmlns:a16="http://schemas.microsoft.com/office/drawing/2014/main" id="{02803ACB-0EAF-BE79-594B-F51B78E40649}"/>
                </a:ext>
              </a:extLst>
            </p:cNvPr>
            <p:cNvSpPr/>
            <p:nvPr/>
          </p:nvSpPr>
          <p:spPr>
            <a:xfrm>
              <a:off x="9644448" y="353511"/>
              <a:ext cx="6560383" cy="6910546"/>
            </a:xfrm>
            <a:prstGeom prst="blockArc">
              <a:avLst>
                <a:gd name="adj1" fmla="val 10800000"/>
                <a:gd name="adj2" fmla="val 11512480"/>
                <a:gd name="adj3" fmla="val 12551"/>
              </a:avLst>
            </a:prstGeom>
            <a:solidFill>
              <a:srgbClr val="797A7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682700CC-95D3-B91A-001C-87574C7816C8}"/>
                </a:ext>
              </a:extLst>
            </p:cNvPr>
            <p:cNvCxnSpPr/>
            <p:nvPr/>
          </p:nvCxnSpPr>
          <p:spPr>
            <a:xfrm>
              <a:off x="9644448" y="3808784"/>
              <a:ext cx="0" cy="325966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D9B9C03B-C2AC-9565-C069-0218A628F829}"/>
                </a:ext>
              </a:extLst>
            </p:cNvPr>
            <p:cNvCxnSpPr/>
            <p:nvPr/>
          </p:nvCxnSpPr>
          <p:spPr>
            <a:xfrm>
              <a:off x="10467607" y="3781365"/>
              <a:ext cx="0" cy="325966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CAC9D954-9368-075B-362D-51099192257B}"/>
                </a:ext>
              </a:extLst>
            </p:cNvPr>
            <p:cNvCxnSpPr>
              <a:cxnSpLocks/>
            </p:cNvCxnSpPr>
            <p:nvPr/>
          </p:nvCxnSpPr>
          <p:spPr>
            <a:xfrm>
              <a:off x="9644448" y="3991875"/>
              <a:ext cx="82315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3F87970F-7CEA-6947-8A38-3C0CB0F88179}"/>
                    </a:ext>
                  </a:extLst>
                </p:cNvPr>
                <p:cNvSpPr txBox="1"/>
                <p:nvPr/>
              </p:nvSpPr>
              <p:spPr>
                <a:xfrm>
                  <a:off x="9379405" y="4052872"/>
                  <a:ext cx="1354113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oMath>
                    </m:oMathPara>
                  </a14:m>
                  <a:endParaRPr lang="zh-CN" altLang="en-US" sz="3200" b="1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3F87970F-7CEA-6947-8A38-3C0CB0F881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9405" y="4052872"/>
                  <a:ext cx="1354113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3" name="连接符: 曲线 72">
            <a:extLst>
              <a:ext uri="{FF2B5EF4-FFF2-40B4-BE49-F238E27FC236}">
                <a16:creationId xmlns:a16="http://schemas.microsoft.com/office/drawing/2014/main" id="{35006D23-F0F0-B9CE-6620-C31BE3624EEB}"/>
              </a:ext>
            </a:extLst>
          </p:cNvPr>
          <p:cNvCxnSpPr>
            <a:cxnSpLocks/>
          </p:cNvCxnSpPr>
          <p:nvPr/>
        </p:nvCxnSpPr>
        <p:spPr>
          <a:xfrm>
            <a:off x="13677697" y="5139950"/>
            <a:ext cx="1162351" cy="762682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741870E1-3733-F3EE-49FF-632A710A5B06}"/>
              </a:ext>
            </a:extLst>
          </p:cNvPr>
          <p:cNvSpPr txBox="1"/>
          <p:nvPr/>
        </p:nvSpPr>
        <p:spPr>
          <a:xfrm>
            <a:off x="10564426" y="7010736"/>
            <a:ext cx="4275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取一段圆环微元用于分析</a:t>
            </a:r>
          </a:p>
        </p:txBody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C51830A9-AF8E-3A39-DDE3-AF76EEA38CB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419" r="4240"/>
          <a:stretch>
            <a:fillRect/>
          </a:stretch>
        </p:blipFill>
        <p:spPr>
          <a:xfrm>
            <a:off x="2505852" y="3732698"/>
            <a:ext cx="6891278" cy="2941297"/>
          </a:xfrm>
          <a:prstGeom prst="rect">
            <a:avLst/>
          </a:prstGeom>
        </p:spPr>
      </p:pic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59F3B7BF-0CC8-6BED-C3D5-8318069C119F}"/>
              </a:ext>
            </a:extLst>
          </p:cNvPr>
          <p:cNvCxnSpPr/>
          <p:nvPr/>
        </p:nvCxnSpPr>
        <p:spPr>
          <a:xfrm flipV="1">
            <a:off x="8195278" y="4377081"/>
            <a:ext cx="1900905" cy="196471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74CD697C-59B3-0F78-2BF0-0CA3CB164F5C}"/>
              </a:ext>
            </a:extLst>
          </p:cNvPr>
          <p:cNvSpPr txBox="1"/>
          <p:nvPr/>
        </p:nvSpPr>
        <p:spPr>
          <a:xfrm>
            <a:off x="3177740" y="7068084"/>
            <a:ext cx="4890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药材剖面示意图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9C9634-9640-7FC8-855D-08715FC0D877}"/>
              </a:ext>
            </a:extLst>
          </p:cNvPr>
          <p:cNvSpPr txBox="1"/>
          <p:nvPr/>
        </p:nvSpPr>
        <p:spPr>
          <a:xfrm>
            <a:off x="8664152" y="3257663"/>
            <a:ext cx="16399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/>
              <a:t>轴向</a:t>
            </a:r>
          </a:p>
        </p:txBody>
      </p:sp>
    </p:spTree>
    <p:extLst>
      <p:ext uri="{BB962C8B-B14F-4D97-AF65-F5344CB8AC3E}">
        <p14:creationId xmlns:p14="http://schemas.microsoft.com/office/powerpoint/2010/main" val="4255605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>
            <a:extLst>
              <a:ext uri="{FF2B5EF4-FFF2-40B4-BE49-F238E27FC236}">
                <a16:creationId xmlns:a16="http://schemas.microsoft.com/office/drawing/2014/main" id="{862455E6-D567-652C-3584-9C93EE44272D}"/>
              </a:ext>
            </a:extLst>
          </p:cNvPr>
          <p:cNvSpPr/>
          <p:nvPr/>
        </p:nvSpPr>
        <p:spPr>
          <a:xfrm>
            <a:off x="972916" y="2787599"/>
            <a:ext cx="4348264" cy="4348264"/>
          </a:xfrm>
          <a:prstGeom prst="ellipse">
            <a:avLst/>
          </a:prstGeom>
          <a:gradFill>
            <a:gsLst>
              <a:gs pos="78000">
                <a:srgbClr val="BA4D14">
                  <a:lumMod val="100000"/>
                </a:srgbClr>
              </a:gs>
              <a:gs pos="100000">
                <a:srgbClr val="BD4E15">
                  <a:lumMod val="100000"/>
                </a:srgbClr>
              </a:gs>
              <a:gs pos="4000">
                <a:schemeClr val="accent2">
                  <a:lumMod val="50000"/>
                  <a:lumOff val="5000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34E726-0302-A0C9-A822-420590B66BB1}"/>
              </a:ext>
            </a:extLst>
          </p:cNvPr>
          <p:cNvSpPr/>
          <p:nvPr/>
        </p:nvSpPr>
        <p:spPr>
          <a:xfrm>
            <a:off x="6383153" y="2866923"/>
            <a:ext cx="549888" cy="4348264"/>
          </a:xfrm>
          <a:prstGeom prst="rect">
            <a:avLst/>
          </a:prstGeom>
          <a:gradFill flip="none" rotWithShape="1">
            <a:gsLst>
              <a:gs pos="71000">
                <a:srgbClr val="BA4D14">
                  <a:lumMod val="50000"/>
                  <a:lumOff val="50000"/>
                </a:srgbClr>
              </a:gs>
              <a:gs pos="100000">
                <a:srgbClr val="BD4E15">
                  <a:lumMod val="0"/>
                  <a:lumOff val="100000"/>
                </a:srgbClr>
              </a:gs>
              <a:gs pos="51000">
                <a:schemeClr val="accent2">
                  <a:lumMod val="100000"/>
                </a:schemeClr>
              </a:gs>
              <a:gs pos="0">
                <a:schemeClr val="accent2">
                  <a:lumMod val="70000"/>
                </a:schemeClr>
              </a:gs>
            </a:gsLst>
            <a:lin ang="5400000" scaled="1"/>
            <a:tileRect/>
          </a:gradFill>
          <a:ln w="381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D9C2F4-3DE9-D79A-BE82-C633540A982B}"/>
              </a:ext>
            </a:extLst>
          </p:cNvPr>
          <p:cNvSpPr txBox="1"/>
          <p:nvPr/>
        </p:nvSpPr>
        <p:spPr>
          <a:xfrm>
            <a:off x="6845028" y="2866923"/>
            <a:ext cx="1410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温度高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BBEA68F-C7DF-D47C-9F64-3692C72E6C49}"/>
              </a:ext>
            </a:extLst>
          </p:cNvPr>
          <p:cNvSpPr txBox="1"/>
          <p:nvPr/>
        </p:nvSpPr>
        <p:spPr>
          <a:xfrm>
            <a:off x="6889035" y="6691967"/>
            <a:ext cx="1410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温度低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FA8DCD2-932C-602E-BDBF-485881870DE8}"/>
              </a:ext>
            </a:extLst>
          </p:cNvPr>
          <p:cNvSpPr/>
          <p:nvPr/>
        </p:nvSpPr>
        <p:spPr>
          <a:xfrm>
            <a:off x="9695384" y="2788393"/>
            <a:ext cx="4348264" cy="434826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85000"/>
                  <a:lumOff val="15000"/>
                </a:schemeClr>
              </a:gs>
              <a:gs pos="51000">
                <a:schemeClr val="accent1">
                  <a:lumMod val="40000"/>
                  <a:lumOff val="60000"/>
                </a:schemeClr>
              </a:gs>
              <a:gs pos="83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B170CC1-22D0-E568-23D3-59BE261E8DC6}"/>
              </a:ext>
            </a:extLst>
          </p:cNvPr>
          <p:cNvSpPr/>
          <p:nvPr/>
        </p:nvSpPr>
        <p:spPr>
          <a:xfrm rot="10800000">
            <a:off x="15105621" y="2867717"/>
            <a:ext cx="549888" cy="434826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0000"/>
                  <a:lumOff val="20000"/>
                </a:schemeClr>
              </a:gs>
              <a:gs pos="74000">
                <a:schemeClr val="accent1">
                  <a:lumMod val="40000"/>
                  <a:lumOff val="60000"/>
                </a:schemeClr>
              </a:gs>
              <a:gs pos="83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16200000" scaled="1"/>
            <a:tileRect/>
          </a:gradFill>
          <a:ln w="381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829A8B2-7841-16B8-9B3F-5779CBAE0A8D}"/>
              </a:ext>
            </a:extLst>
          </p:cNvPr>
          <p:cNvSpPr txBox="1"/>
          <p:nvPr/>
        </p:nvSpPr>
        <p:spPr>
          <a:xfrm>
            <a:off x="15567496" y="2867717"/>
            <a:ext cx="14105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水分浓度高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BDE8676-9EA3-8686-6DD5-1EC786B53EDC}"/>
              </a:ext>
            </a:extLst>
          </p:cNvPr>
          <p:cNvSpPr txBox="1"/>
          <p:nvPr/>
        </p:nvSpPr>
        <p:spPr>
          <a:xfrm>
            <a:off x="15611503" y="6692761"/>
            <a:ext cx="14105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水分浓度低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ECD032-2794-3FD4-8653-8CF044AD9F6E}"/>
              </a:ext>
            </a:extLst>
          </p:cNvPr>
          <p:cNvSpPr txBox="1"/>
          <p:nvPr/>
        </p:nvSpPr>
        <p:spPr>
          <a:xfrm>
            <a:off x="3299447" y="1905765"/>
            <a:ext cx="1763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对流换热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83D46217-7598-A1B9-B22B-0C36166EA8B1}"/>
              </a:ext>
            </a:extLst>
          </p:cNvPr>
          <p:cNvGrpSpPr/>
          <p:nvPr/>
        </p:nvGrpSpPr>
        <p:grpSpPr>
          <a:xfrm>
            <a:off x="3299448" y="1760341"/>
            <a:ext cx="0" cy="2115169"/>
            <a:chOff x="3147048" y="1726119"/>
            <a:chExt cx="0" cy="2115169"/>
          </a:xfrm>
        </p:grpSpPr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AD6F8423-C206-DB5A-76FC-55E9E9FD6458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3147048" y="1726119"/>
              <a:ext cx="0" cy="1061480"/>
            </a:xfrm>
            <a:prstGeom prst="straightConnector1">
              <a:avLst/>
            </a:prstGeom>
            <a:ln w="1270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426DC3A4-13E0-CF7C-4A59-CD0F9DC73924}"/>
                </a:ext>
              </a:extLst>
            </p:cNvPr>
            <p:cNvCxnSpPr>
              <a:cxnSpLocks/>
            </p:cNvCxnSpPr>
            <p:nvPr/>
          </p:nvCxnSpPr>
          <p:spPr>
            <a:xfrm>
              <a:off x="3147048" y="2779808"/>
              <a:ext cx="0" cy="1061480"/>
            </a:xfrm>
            <a:prstGeom prst="straightConnector1">
              <a:avLst/>
            </a:prstGeom>
            <a:ln w="1270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C68A3AAC-C2C2-EF30-F908-02C41AB5B67F}"/>
              </a:ext>
            </a:extLst>
          </p:cNvPr>
          <p:cNvSpPr txBox="1"/>
          <p:nvPr/>
        </p:nvSpPr>
        <p:spPr>
          <a:xfrm>
            <a:off x="3095355" y="3596136"/>
            <a:ext cx="1763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热传导</a:t>
            </a:r>
            <a:endParaRPr lang="en-US" altLang="zh-CN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B7D0B70-CA6C-A13F-B54E-8FBA5C3A4D5C}"/>
                  </a:ext>
                </a:extLst>
              </p:cNvPr>
              <p:cNvSpPr txBox="1"/>
              <p:nvPr/>
            </p:nvSpPr>
            <p:spPr>
              <a:xfrm>
                <a:off x="405320" y="7408895"/>
                <a:ext cx="5642042" cy="15379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sz="2800" b="1" i="0" smtClean="0">
                          <a:latin typeface="Cambria Math" panose="02040503050406030204" pitchFamily="18" charset="0"/>
                        </a:rPr>
                        <m:t>边界条件</m:t>
                      </m:r>
                      <m:r>
                        <a:rPr lang="zh-CN" altLang="en-US" sz="2800" b="1" i="1" smtClean="0">
                          <a:latin typeface="Cambria Math" panose="02040503050406030204" pitchFamily="18" charset="0"/>
                        </a:rPr>
                        <m:t>：</m:t>
                      </m:r>
                    </m:oMath>
                  </m:oMathPara>
                </a14:m>
                <a:endParaRPr lang="en-US" altLang="zh-CN" sz="2800" b="1" i="1" dirty="0">
                  <a:latin typeface="+mn-ea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𝒌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num>
                                <m:den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B7D0B70-CA6C-A13F-B54E-8FBA5C3A4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20" y="7408895"/>
                <a:ext cx="5642042" cy="15379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组合 37">
            <a:extLst>
              <a:ext uri="{FF2B5EF4-FFF2-40B4-BE49-F238E27FC236}">
                <a16:creationId xmlns:a16="http://schemas.microsoft.com/office/drawing/2014/main" id="{A45E163A-150D-7AE7-529C-694306CBB034}"/>
              </a:ext>
            </a:extLst>
          </p:cNvPr>
          <p:cNvGrpSpPr/>
          <p:nvPr/>
        </p:nvGrpSpPr>
        <p:grpSpPr>
          <a:xfrm rot="8029833">
            <a:off x="4741794" y="5350863"/>
            <a:ext cx="0" cy="2149391"/>
            <a:chOff x="2994648" y="1624519"/>
            <a:chExt cx="0" cy="2149391"/>
          </a:xfrm>
        </p:grpSpPr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7F8B2555-C268-4B6D-D1A5-280F37AD0519}"/>
                </a:ext>
              </a:extLst>
            </p:cNvPr>
            <p:cNvCxnSpPr>
              <a:cxnSpLocks/>
            </p:cNvCxnSpPr>
            <p:nvPr/>
          </p:nvCxnSpPr>
          <p:spPr>
            <a:xfrm>
              <a:off x="2994648" y="1624519"/>
              <a:ext cx="0" cy="1061480"/>
            </a:xfrm>
            <a:prstGeom prst="straightConnector1">
              <a:avLst/>
            </a:prstGeom>
            <a:ln w="1270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7EEB25BE-DDE3-825A-08B2-03A043936C5E}"/>
                </a:ext>
              </a:extLst>
            </p:cNvPr>
            <p:cNvCxnSpPr>
              <a:cxnSpLocks/>
            </p:cNvCxnSpPr>
            <p:nvPr/>
          </p:nvCxnSpPr>
          <p:spPr>
            <a:xfrm>
              <a:off x="2994648" y="2712430"/>
              <a:ext cx="0" cy="1061480"/>
            </a:xfrm>
            <a:prstGeom prst="straightConnector1">
              <a:avLst/>
            </a:prstGeom>
            <a:ln w="1270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FD0AB920-D01B-A1A5-8842-FF9E6E90DF88}"/>
              </a:ext>
            </a:extLst>
          </p:cNvPr>
          <p:cNvGrpSpPr/>
          <p:nvPr/>
        </p:nvGrpSpPr>
        <p:grpSpPr>
          <a:xfrm rot="13492244">
            <a:off x="1684462" y="5436046"/>
            <a:ext cx="0" cy="2149391"/>
            <a:chOff x="2994648" y="1624519"/>
            <a:chExt cx="0" cy="2149391"/>
          </a:xfrm>
        </p:grpSpPr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95CECB3A-6538-E616-814A-0A3D725E03C2}"/>
                </a:ext>
              </a:extLst>
            </p:cNvPr>
            <p:cNvCxnSpPr>
              <a:cxnSpLocks/>
            </p:cNvCxnSpPr>
            <p:nvPr/>
          </p:nvCxnSpPr>
          <p:spPr>
            <a:xfrm>
              <a:off x="2994648" y="1624519"/>
              <a:ext cx="0" cy="1061480"/>
            </a:xfrm>
            <a:prstGeom prst="straightConnector1">
              <a:avLst/>
            </a:prstGeom>
            <a:ln w="1270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1E6B3E83-F4C6-85CB-5252-646996CB7307}"/>
                </a:ext>
              </a:extLst>
            </p:cNvPr>
            <p:cNvCxnSpPr>
              <a:cxnSpLocks/>
            </p:cNvCxnSpPr>
            <p:nvPr/>
          </p:nvCxnSpPr>
          <p:spPr>
            <a:xfrm>
              <a:off x="2994648" y="2712430"/>
              <a:ext cx="0" cy="1061480"/>
            </a:xfrm>
            <a:prstGeom prst="straightConnector1">
              <a:avLst/>
            </a:prstGeom>
            <a:ln w="1270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F62EF584-18C7-50D0-E8EE-9F75330A2F64}"/>
              </a:ext>
            </a:extLst>
          </p:cNvPr>
          <p:cNvGrpSpPr/>
          <p:nvPr/>
        </p:nvGrpSpPr>
        <p:grpSpPr>
          <a:xfrm rot="10800000">
            <a:off x="11869516" y="1695639"/>
            <a:ext cx="0" cy="2149391"/>
            <a:chOff x="2994648" y="1624519"/>
            <a:chExt cx="0" cy="2149391"/>
          </a:xfrm>
        </p:grpSpPr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1F278EE2-B0FB-CCDF-6FBE-04660D6396AD}"/>
                </a:ext>
              </a:extLst>
            </p:cNvPr>
            <p:cNvCxnSpPr>
              <a:cxnSpLocks/>
            </p:cNvCxnSpPr>
            <p:nvPr/>
          </p:nvCxnSpPr>
          <p:spPr>
            <a:xfrm>
              <a:off x="2994648" y="1624519"/>
              <a:ext cx="0" cy="1061480"/>
            </a:xfrm>
            <a:prstGeom prst="straightConnector1">
              <a:avLst/>
            </a:prstGeom>
            <a:ln w="1270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D932EA3B-84AE-97ED-58AE-1D4A18C68063}"/>
                </a:ext>
              </a:extLst>
            </p:cNvPr>
            <p:cNvCxnSpPr>
              <a:cxnSpLocks/>
            </p:cNvCxnSpPr>
            <p:nvPr/>
          </p:nvCxnSpPr>
          <p:spPr>
            <a:xfrm>
              <a:off x="2994648" y="2712430"/>
              <a:ext cx="0" cy="1061480"/>
            </a:xfrm>
            <a:prstGeom prst="straightConnector1">
              <a:avLst/>
            </a:prstGeom>
            <a:ln w="1270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ED01ED9E-4244-4E64-815D-751DB9B3D831}"/>
              </a:ext>
            </a:extLst>
          </p:cNvPr>
          <p:cNvSpPr txBox="1"/>
          <p:nvPr/>
        </p:nvSpPr>
        <p:spPr>
          <a:xfrm>
            <a:off x="11869515" y="2032417"/>
            <a:ext cx="1763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对流传质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9B7D3AD-135D-4F88-ADAF-EAFA1832F88A}"/>
              </a:ext>
            </a:extLst>
          </p:cNvPr>
          <p:cNvSpPr txBox="1"/>
          <p:nvPr/>
        </p:nvSpPr>
        <p:spPr>
          <a:xfrm>
            <a:off x="11753117" y="3699799"/>
            <a:ext cx="1763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水汽扩散</a:t>
            </a:r>
            <a:endParaRPr lang="en-US" altLang="zh-CN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53764828-BD50-51B0-ED73-156A0F029834}"/>
                  </a:ext>
                </a:extLst>
              </p:cNvPr>
              <p:cNvSpPr txBox="1"/>
              <p:nvPr/>
            </p:nvSpPr>
            <p:spPr>
              <a:xfrm>
                <a:off x="9356280" y="7549818"/>
                <a:ext cx="5642042" cy="15379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sz="2800" b="1" i="0" smtClean="0">
                          <a:latin typeface="Cambria Math" panose="02040503050406030204" pitchFamily="18" charset="0"/>
                        </a:rPr>
                        <m:t>边界条件</m:t>
                      </m:r>
                      <m:r>
                        <a:rPr lang="zh-CN" altLang="en-US" sz="2800" b="1" i="1" smtClean="0">
                          <a:latin typeface="Cambria Math" panose="02040503050406030204" pitchFamily="18" charset="0"/>
                        </a:rPr>
                        <m:t>：</m:t>
                      </m:r>
                    </m:oMath>
                  </m:oMathPara>
                </a14:m>
                <a:endParaRPr lang="en-US" altLang="zh-CN" sz="2800" b="1" i="1" dirty="0">
                  <a:latin typeface="+mn-ea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𝑫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num>
                                <m:den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53764828-BD50-51B0-ED73-156A0F029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6280" y="7549818"/>
                <a:ext cx="5642042" cy="15379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组合 54">
            <a:extLst>
              <a:ext uri="{FF2B5EF4-FFF2-40B4-BE49-F238E27FC236}">
                <a16:creationId xmlns:a16="http://schemas.microsoft.com/office/drawing/2014/main" id="{B3BED34C-9585-BCDF-177F-C91BFD0ED06A}"/>
              </a:ext>
            </a:extLst>
          </p:cNvPr>
          <p:cNvGrpSpPr/>
          <p:nvPr/>
        </p:nvGrpSpPr>
        <p:grpSpPr>
          <a:xfrm rot="18743507">
            <a:off x="13428811" y="5360014"/>
            <a:ext cx="0" cy="2149391"/>
            <a:chOff x="2994648" y="1624519"/>
            <a:chExt cx="0" cy="2149391"/>
          </a:xfrm>
        </p:grpSpPr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3947362E-165F-B099-5ABA-95640F554352}"/>
                </a:ext>
              </a:extLst>
            </p:cNvPr>
            <p:cNvCxnSpPr>
              <a:cxnSpLocks/>
            </p:cNvCxnSpPr>
            <p:nvPr/>
          </p:nvCxnSpPr>
          <p:spPr>
            <a:xfrm>
              <a:off x="2994648" y="1624519"/>
              <a:ext cx="0" cy="1061480"/>
            </a:xfrm>
            <a:prstGeom prst="straightConnector1">
              <a:avLst/>
            </a:prstGeom>
            <a:ln w="1270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81E78AD2-E3F3-EFBC-D2FC-371BC30BE1FE}"/>
                </a:ext>
              </a:extLst>
            </p:cNvPr>
            <p:cNvCxnSpPr>
              <a:cxnSpLocks/>
            </p:cNvCxnSpPr>
            <p:nvPr/>
          </p:nvCxnSpPr>
          <p:spPr>
            <a:xfrm>
              <a:off x="2994648" y="2712430"/>
              <a:ext cx="0" cy="1061480"/>
            </a:xfrm>
            <a:prstGeom prst="straightConnector1">
              <a:avLst/>
            </a:prstGeom>
            <a:ln w="1270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C16195B6-A46F-E3C8-5F72-839C187FE4B8}"/>
              </a:ext>
            </a:extLst>
          </p:cNvPr>
          <p:cNvGrpSpPr/>
          <p:nvPr/>
        </p:nvGrpSpPr>
        <p:grpSpPr>
          <a:xfrm rot="2585818">
            <a:off x="10386864" y="5509977"/>
            <a:ext cx="0" cy="2149391"/>
            <a:chOff x="2994648" y="1624519"/>
            <a:chExt cx="0" cy="2149391"/>
          </a:xfrm>
        </p:grpSpPr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932C0F48-6069-649C-FF92-3C22553E4F91}"/>
                </a:ext>
              </a:extLst>
            </p:cNvPr>
            <p:cNvCxnSpPr>
              <a:cxnSpLocks/>
            </p:cNvCxnSpPr>
            <p:nvPr/>
          </p:nvCxnSpPr>
          <p:spPr>
            <a:xfrm>
              <a:off x="2994648" y="1624519"/>
              <a:ext cx="0" cy="1061480"/>
            </a:xfrm>
            <a:prstGeom prst="straightConnector1">
              <a:avLst/>
            </a:prstGeom>
            <a:ln w="1270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B9CE8CD4-7B4D-708E-ACCB-DED73A370BB1}"/>
                </a:ext>
              </a:extLst>
            </p:cNvPr>
            <p:cNvCxnSpPr>
              <a:cxnSpLocks/>
            </p:cNvCxnSpPr>
            <p:nvPr/>
          </p:nvCxnSpPr>
          <p:spPr>
            <a:xfrm>
              <a:off x="2994648" y="2712430"/>
              <a:ext cx="0" cy="1061480"/>
            </a:xfrm>
            <a:prstGeom prst="straightConnector1">
              <a:avLst/>
            </a:prstGeom>
            <a:ln w="1270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文本框 60">
            <a:extLst>
              <a:ext uri="{FF2B5EF4-FFF2-40B4-BE49-F238E27FC236}">
                <a16:creationId xmlns:a16="http://schemas.microsoft.com/office/drawing/2014/main" id="{31200937-2E1D-2CF6-2965-FE61B5C14F92}"/>
              </a:ext>
            </a:extLst>
          </p:cNvPr>
          <p:cNvSpPr txBox="1"/>
          <p:nvPr/>
        </p:nvSpPr>
        <p:spPr>
          <a:xfrm>
            <a:off x="926253" y="926197"/>
            <a:ext cx="56846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latin typeface="+mn-ea"/>
              </a:rPr>
              <a:t>(a) </a:t>
            </a:r>
            <a:r>
              <a:rPr lang="zh-CN" altLang="en-US" sz="4400" b="1" dirty="0">
                <a:latin typeface="+mn-ea"/>
              </a:rPr>
              <a:t>对流换热示意图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E92B7A0-633F-A561-9FBC-5EDAE8E332E6}"/>
              </a:ext>
            </a:extLst>
          </p:cNvPr>
          <p:cNvSpPr txBox="1"/>
          <p:nvPr/>
        </p:nvSpPr>
        <p:spPr>
          <a:xfrm>
            <a:off x="9313686" y="872424"/>
            <a:ext cx="56846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latin typeface="+mn-ea"/>
              </a:rPr>
              <a:t>(b) </a:t>
            </a:r>
            <a:r>
              <a:rPr lang="zh-CN" altLang="en-US" sz="4400" b="1" dirty="0">
                <a:latin typeface="+mn-ea"/>
              </a:rPr>
              <a:t>对流传质示意图</a:t>
            </a:r>
          </a:p>
        </p:txBody>
      </p:sp>
    </p:spTree>
    <p:extLst>
      <p:ext uri="{BB962C8B-B14F-4D97-AF65-F5344CB8AC3E}">
        <p14:creationId xmlns:p14="http://schemas.microsoft.com/office/powerpoint/2010/main" val="3272900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0403" y="1699342"/>
            <a:ext cx="11159959" cy="3455988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6" name="矩形 5"/>
          <p:cNvSpPr/>
          <p:nvPr/>
        </p:nvSpPr>
        <p:spPr>
          <a:xfrm>
            <a:off x="230404" y="5625146"/>
            <a:ext cx="3513587" cy="3634171"/>
          </a:xfrm>
          <a:prstGeom prst="rect">
            <a:avLst/>
          </a:prstGeom>
          <a:solidFill>
            <a:srgbClr val="E5FC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7" name="矩形 6"/>
          <p:cNvSpPr/>
          <p:nvPr/>
        </p:nvSpPr>
        <p:spPr>
          <a:xfrm>
            <a:off x="4053595" y="5625146"/>
            <a:ext cx="3513587" cy="3634171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8" name="矩形 7"/>
          <p:cNvSpPr/>
          <p:nvPr/>
        </p:nvSpPr>
        <p:spPr>
          <a:xfrm>
            <a:off x="7876787" y="5625151"/>
            <a:ext cx="3513587" cy="3634171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9" name="矩形 8"/>
          <p:cNvSpPr/>
          <p:nvPr/>
        </p:nvSpPr>
        <p:spPr>
          <a:xfrm>
            <a:off x="11728772" y="1696655"/>
            <a:ext cx="5191181" cy="7562665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10" name="文本框 9"/>
          <p:cNvSpPr txBox="1"/>
          <p:nvPr/>
        </p:nvSpPr>
        <p:spPr>
          <a:xfrm>
            <a:off x="345601" y="1696647"/>
            <a:ext cx="7913671" cy="8522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5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Task1:  Develop Insurance Underwriting Model (Model 1)</a:t>
            </a:r>
          </a:p>
          <a:p>
            <a:endParaRPr lang="en-US" altLang="zh-CN" sz="255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858359" y="1711050"/>
            <a:ext cx="5062481" cy="18530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5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Task2:                                                                              Dual-Case Application of Model 1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905586" y="5682742"/>
            <a:ext cx="3714287" cy="79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Task3:Resilience Life-Cycle Cost Model(Model  2)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988796" y="5697131"/>
            <a:ext cx="3578387" cy="10331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5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Task4:</a:t>
            </a:r>
            <a:r>
              <a:rPr lang="en-US" altLang="zh-CN" sz="22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Heritage Protection Model(Model 3) </a:t>
            </a:r>
            <a:endParaRPr lang="zh-CN" altLang="en-US" sz="226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88002" y="5697523"/>
            <a:ext cx="3671988" cy="484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Task5:One-page Letter </a:t>
            </a:r>
            <a:endParaRPr lang="zh-CN" altLang="en-US" sz="255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71299" y="2661442"/>
            <a:ext cx="2258092" cy="707397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Insurance Markets</a:t>
            </a:r>
          </a:p>
        </p:txBody>
      </p:sp>
      <p:sp>
        <p:nvSpPr>
          <p:cNvPr id="18" name="矩形 17"/>
          <p:cNvSpPr/>
          <p:nvPr/>
        </p:nvSpPr>
        <p:spPr>
          <a:xfrm>
            <a:off x="771299" y="3491239"/>
            <a:ext cx="2258092" cy="707397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</a:t>
            </a:r>
          </a:p>
        </p:txBody>
      </p:sp>
      <p:sp>
        <p:nvSpPr>
          <p:cNvPr id="19" name="矩形 18"/>
          <p:cNvSpPr/>
          <p:nvPr/>
        </p:nvSpPr>
        <p:spPr>
          <a:xfrm>
            <a:off x="771299" y="4314735"/>
            <a:ext cx="2258092" cy="707397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Cultural Heritage Sites</a:t>
            </a:r>
          </a:p>
        </p:txBody>
      </p:sp>
      <p:cxnSp>
        <p:nvCxnSpPr>
          <p:cNvPr id="21" name="直接箭头连接符 20"/>
          <p:cNvCxnSpPr>
            <a:stCxn id="17" idx="3"/>
          </p:cNvCxnSpPr>
          <p:nvPr/>
        </p:nvCxnSpPr>
        <p:spPr>
          <a:xfrm>
            <a:off x="3029389" y="3015320"/>
            <a:ext cx="5399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3034790" y="3857371"/>
            <a:ext cx="5399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3029389" y="4668101"/>
            <a:ext cx="5399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/>
          <p:cNvSpPr/>
          <p:nvPr/>
        </p:nvSpPr>
        <p:spPr>
          <a:xfrm>
            <a:off x="3569390" y="2548950"/>
            <a:ext cx="2196893" cy="81989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7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Quantification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3580188" y="3503846"/>
            <a:ext cx="2186092" cy="707397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7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Criterion Construction</a:t>
            </a:r>
          </a:p>
        </p:txBody>
      </p:sp>
      <p:sp>
        <p:nvSpPr>
          <p:cNvPr id="27" name="矩形: 圆角 26"/>
          <p:cNvSpPr/>
          <p:nvPr/>
        </p:nvSpPr>
        <p:spPr>
          <a:xfrm>
            <a:off x="3580195" y="4305743"/>
            <a:ext cx="2030392" cy="707397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7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 Mechanism Integration</a:t>
            </a:r>
          </a:p>
        </p:txBody>
      </p:sp>
      <p:cxnSp>
        <p:nvCxnSpPr>
          <p:cNvPr id="28" name="直接箭头连接符 27"/>
          <p:cNvCxnSpPr>
            <a:stCxn id="24" idx="3"/>
          </p:cNvCxnSpPr>
          <p:nvPr/>
        </p:nvCxnSpPr>
        <p:spPr>
          <a:xfrm>
            <a:off x="5766281" y="2959532"/>
            <a:ext cx="539998" cy="8208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7" idx="3"/>
          </p:cNvCxnSpPr>
          <p:nvPr/>
        </p:nvCxnSpPr>
        <p:spPr>
          <a:xfrm flipV="1">
            <a:off x="5610587" y="3836161"/>
            <a:ext cx="529197" cy="8235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5" idx="3"/>
          </p:cNvCxnSpPr>
          <p:nvPr/>
        </p:nvCxnSpPr>
        <p:spPr>
          <a:xfrm flipV="1">
            <a:off x="5766290" y="3836144"/>
            <a:ext cx="2914189" cy="212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6317086" y="2803640"/>
            <a:ext cx="1834194" cy="1032296"/>
          </a:xfrm>
          <a:prstGeom prst="rect">
            <a:avLst/>
          </a:prstGeom>
          <a:solidFill>
            <a:srgbClr val="FBF4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Insurance Underwriting</a:t>
            </a:r>
          </a:p>
        </p:txBody>
      </p:sp>
      <p:sp>
        <p:nvSpPr>
          <p:cNvPr id="38" name="矩形 37"/>
          <p:cNvSpPr/>
          <p:nvPr/>
        </p:nvSpPr>
        <p:spPr>
          <a:xfrm>
            <a:off x="6317086" y="3923251"/>
            <a:ext cx="1834194" cy="707397"/>
          </a:xfrm>
          <a:prstGeom prst="rect">
            <a:avLst/>
          </a:prstGeom>
          <a:solidFill>
            <a:srgbClr val="FBF4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</a:t>
            </a:r>
          </a:p>
        </p:txBody>
      </p:sp>
      <p:sp>
        <p:nvSpPr>
          <p:cNvPr id="39" name="矩形 38"/>
          <p:cNvSpPr/>
          <p:nvPr/>
        </p:nvSpPr>
        <p:spPr>
          <a:xfrm>
            <a:off x="8418577" y="3234751"/>
            <a:ext cx="2780989" cy="916197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Insurance Underwriting Model </a:t>
            </a:r>
          </a:p>
        </p:txBody>
      </p:sp>
      <p:sp>
        <p:nvSpPr>
          <p:cNvPr id="40" name="矩形: 圆角 39"/>
          <p:cNvSpPr/>
          <p:nvPr/>
        </p:nvSpPr>
        <p:spPr>
          <a:xfrm>
            <a:off x="12068066" y="2660539"/>
            <a:ext cx="4749282" cy="574198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x:Case Selection: Texas, Luzon Island</a:t>
            </a:r>
          </a:p>
        </p:txBody>
      </p:sp>
      <p:sp>
        <p:nvSpPr>
          <p:cNvPr id="41" name="矩形: 圆角 40"/>
          <p:cNvSpPr/>
          <p:nvPr/>
        </p:nvSpPr>
        <p:spPr>
          <a:xfrm>
            <a:off x="12067165" y="3323843"/>
            <a:ext cx="4750184" cy="598499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y:Baseline Simulation</a:t>
            </a:r>
          </a:p>
        </p:txBody>
      </p:sp>
      <p:sp>
        <p:nvSpPr>
          <p:cNvPr id="42" name="矩形: 圆角 41"/>
          <p:cNvSpPr/>
          <p:nvPr/>
        </p:nvSpPr>
        <p:spPr>
          <a:xfrm>
            <a:off x="12068071" y="3988044"/>
            <a:ext cx="4748383" cy="763198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z:Intervention Analysis</a:t>
            </a:r>
          </a:p>
        </p:txBody>
      </p:sp>
      <p:cxnSp>
        <p:nvCxnSpPr>
          <p:cNvPr id="43" name="直接箭头连接符 42"/>
          <p:cNvCxnSpPr/>
          <p:nvPr/>
        </p:nvCxnSpPr>
        <p:spPr>
          <a:xfrm>
            <a:off x="11318361" y="3648021"/>
            <a:ext cx="5399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12247163" y="4831560"/>
            <a:ext cx="4003183" cy="268986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cxnSp>
        <p:nvCxnSpPr>
          <p:cNvPr id="45" name="直接箭头连接符 44"/>
          <p:cNvCxnSpPr/>
          <p:nvPr/>
        </p:nvCxnSpPr>
        <p:spPr>
          <a:xfrm>
            <a:off x="13939151" y="6083412"/>
            <a:ext cx="1758594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15479047" y="5554551"/>
            <a:ext cx="419397" cy="484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51" b="1" dirty="0">
                <a:solidFill>
                  <a:srgbClr val="00B050"/>
                </a:solidFill>
              </a:rPr>
              <a:t>y</a:t>
            </a:r>
            <a:endParaRPr lang="zh-CN" altLang="en-US" sz="2551" b="1" dirty="0">
              <a:solidFill>
                <a:srgbClr val="00B050"/>
              </a:solidFill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 flipV="1">
            <a:off x="13939150" y="4860133"/>
            <a:ext cx="0" cy="1217880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13490054" y="4751622"/>
            <a:ext cx="419397" cy="484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51" b="1" dirty="0">
                <a:solidFill>
                  <a:schemeClr val="accent4">
                    <a:lumMod val="75000"/>
                  </a:schemeClr>
                </a:solidFill>
              </a:rPr>
              <a:t>z</a:t>
            </a:r>
            <a:endParaRPr lang="zh-CN" altLang="en-US" sz="2551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 flipH="1">
            <a:off x="13317254" y="6078013"/>
            <a:ext cx="621898" cy="101555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12810200" y="6730174"/>
            <a:ext cx="419397" cy="484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51" b="1" dirty="0">
                <a:solidFill>
                  <a:srgbClr val="0070C0"/>
                </a:solidFill>
              </a:rPr>
              <a:t>x</a:t>
            </a:r>
            <a:endParaRPr lang="zh-CN" altLang="en-US" sz="2551" b="1" dirty="0">
              <a:solidFill>
                <a:srgbClr val="0070C0"/>
              </a:solidFill>
            </a:endParaRPr>
          </a:p>
        </p:txBody>
      </p:sp>
      <p:sp>
        <p:nvSpPr>
          <p:cNvPr id="56" name="箭头: 下 55"/>
          <p:cNvSpPr/>
          <p:nvPr/>
        </p:nvSpPr>
        <p:spPr>
          <a:xfrm>
            <a:off x="14066735" y="7318185"/>
            <a:ext cx="515249" cy="371919"/>
          </a:xfrm>
          <a:prstGeom prst="downArrow">
            <a:avLst/>
          </a:prstGeom>
          <a:solidFill>
            <a:srgbClr val="B2EBF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57" name="矩形 56"/>
          <p:cNvSpPr/>
          <p:nvPr/>
        </p:nvSpPr>
        <p:spPr>
          <a:xfrm>
            <a:off x="12810195" y="7763363"/>
            <a:ext cx="2887550" cy="1004524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Demonstrating Effectiveness of Model 1</a:t>
            </a:r>
          </a:p>
        </p:txBody>
      </p:sp>
      <p:sp>
        <p:nvSpPr>
          <p:cNvPr id="58" name="矩形 57"/>
          <p:cNvSpPr/>
          <p:nvPr/>
        </p:nvSpPr>
        <p:spPr>
          <a:xfrm>
            <a:off x="8334701" y="6631071"/>
            <a:ext cx="2430712" cy="1058665"/>
          </a:xfrm>
          <a:prstGeom prst="rect">
            <a:avLst/>
          </a:prstGeom>
          <a:solidFill>
            <a:srgbClr val="F5F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Minimize the Total Cost of Ownership (TCO)</a:t>
            </a:r>
          </a:p>
        </p:txBody>
      </p:sp>
      <p:sp>
        <p:nvSpPr>
          <p:cNvPr id="59" name="矩形 58"/>
          <p:cNvSpPr/>
          <p:nvPr/>
        </p:nvSpPr>
        <p:spPr>
          <a:xfrm>
            <a:off x="8334700" y="8050456"/>
            <a:ext cx="2430712" cy="1058665"/>
          </a:xfrm>
          <a:prstGeom prst="rect">
            <a:avLst/>
          </a:prstGeom>
          <a:solidFill>
            <a:srgbClr val="F5F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Dynamic Resilience Life-Cycle Cost Model</a:t>
            </a:r>
          </a:p>
        </p:txBody>
      </p:sp>
      <p:sp>
        <p:nvSpPr>
          <p:cNvPr id="60" name="箭头: 下 59"/>
          <p:cNvSpPr/>
          <p:nvPr/>
        </p:nvSpPr>
        <p:spPr>
          <a:xfrm>
            <a:off x="9292430" y="7690105"/>
            <a:ext cx="515249" cy="325250"/>
          </a:xfrm>
          <a:prstGeom prst="down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cxnSp>
        <p:nvCxnSpPr>
          <p:cNvPr id="61" name="直接箭头连接符 60"/>
          <p:cNvCxnSpPr/>
          <p:nvPr/>
        </p:nvCxnSpPr>
        <p:spPr>
          <a:xfrm flipH="1">
            <a:off x="11265301" y="7438105"/>
            <a:ext cx="59306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7406116" y="7438105"/>
            <a:ext cx="59306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4297494" y="6597140"/>
            <a:ext cx="3025788" cy="844197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 weights via Vculture and WLC</a:t>
            </a:r>
          </a:p>
        </p:txBody>
      </p:sp>
      <p:sp>
        <p:nvSpPr>
          <p:cNvPr id="65" name="矩形 64"/>
          <p:cNvSpPr/>
          <p:nvPr/>
        </p:nvSpPr>
        <p:spPr>
          <a:xfrm>
            <a:off x="4148986" y="7763530"/>
            <a:ext cx="1460695" cy="1354495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to form TC</a:t>
            </a:r>
          </a:p>
        </p:txBody>
      </p:sp>
      <p:sp>
        <p:nvSpPr>
          <p:cNvPr id="66" name="矩形 65"/>
          <p:cNvSpPr/>
          <p:nvPr/>
        </p:nvSpPr>
        <p:spPr>
          <a:xfrm>
            <a:off x="5766283" y="7763530"/>
            <a:ext cx="1764894" cy="1354495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Construct Preservation Index (PI=TV/TC)</a:t>
            </a:r>
          </a:p>
        </p:txBody>
      </p:sp>
      <p:cxnSp>
        <p:nvCxnSpPr>
          <p:cNvPr id="67" name="直接箭头连接符 66"/>
          <p:cNvCxnSpPr/>
          <p:nvPr/>
        </p:nvCxnSpPr>
        <p:spPr>
          <a:xfrm flipH="1">
            <a:off x="5082691" y="7453598"/>
            <a:ext cx="727688" cy="3046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endCxn id="66" idx="0"/>
          </p:cNvCxnSpPr>
          <p:nvPr/>
        </p:nvCxnSpPr>
        <p:spPr>
          <a:xfrm>
            <a:off x="5876292" y="7464065"/>
            <a:ext cx="773140" cy="2996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 flipH="1">
            <a:off x="3628790" y="7417088"/>
            <a:ext cx="52016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328501" y="6729425"/>
            <a:ext cx="1655094" cy="1769394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Community Recommendation Letter</a:t>
            </a:r>
          </a:p>
          <a:p>
            <a:pPr algn="ctr"/>
            <a:r>
              <a:rPr lang="en-US" altLang="zh-CN" sz="2268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CN" altLang="en-US" sz="2268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2143795" y="6306432"/>
            <a:ext cx="1522794" cy="1307695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984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7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core conclusions of the 3 models</a:t>
            </a:r>
          </a:p>
        </p:txBody>
      </p:sp>
      <p:sp>
        <p:nvSpPr>
          <p:cNvPr id="77" name="矩形 76"/>
          <p:cNvSpPr/>
          <p:nvPr/>
        </p:nvSpPr>
        <p:spPr>
          <a:xfrm>
            <a:off x="2143557" y="7834864"/>
            <a:ext cx="1522752" cy="1058665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984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Clarify risk early warning </a:t>
            </a:r>
          </a:p>
        </p:txBody>
      </p:sp>
      <p:cxnSp>
        <p:nvCxnSpPr>
          <p:cNvPr id="78" name="直接箭头连接符 77"/>
          <p:cNvCxnSpPr>
            <a:stCxn id="76" idx="1"/>
            <a:endCxn id="75" idx="3"/>
          </p:cNvCxnSpPr>
          <p:nvPr/>
        </p:nvCxnSpPr>
        <p:spPr>
          <a:xfrm flipH="1">
            <a:off x="1984022" y="6960281"/>
            <a:ext cx="160200" cy="6533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endCxn id="75" idx="3"/>
          </p:cNvCxnSpPr>
          <p:nvPr/>
        </p:nvCxnSpPr>
        <p:spPr>
          <a:xfrm flipH="1" flipV="1">
            <a:off x="1983984" y="7613943"/>
            <a:ext cx="160183" cy="9784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4A942D8-0DB1-0D9B-51E4-6827091A84E0}"/>
              </a:ext>
            </a:extLst>
          </p:cNvPr>
          <p:cNvSpPr/>
          <p:nvPr/>
        </p:nvSpPr>
        <p:spPr>
          <a:xfrm>
            <a:off x="2740944" y="2665049"/>
            <a:ext cx="2196893" cy="81989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7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Quantification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1374</TotalTime>
  <Words>1135</Words>
  <Application>Microsoft Office PowerPoint</Application>
  <PresentationFormat>自定义</PresentationFormat>
  <Paragraphs>175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Aptos</vt:lpstr>
      <vt:lpstr>Aptos Display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9319727@qq.com</dc:creator>
  <cp:lastModifiedBy>9319727@qq.com</cp:lastModifiedBy>
  <cp:revision>14</cp:revision>
  <dcterms:created xsi:type="dcterms:W3CDTF">2026-01-27T04:26:21Z</dcterms:created>
  <dcterms:modified xsi:type="dcterms:W3CDTF">2026-09-12T10:58:12Z</dcterms:modified>
</cp:coreProperties>
</file>